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692" r:id="rId2"/>
  </p:sldMasterIdLst>
  <p:notesMasterIdLst>
    <p:notesMasterId r:id="rId39"/>
  </p:notesMasterIdLst>
  <p:handoutMasterIdLst>
    <p:handoutMasterId r:id="rId40"/>
  </p:handoutMasterIdLst>
  <p:sldIdLst>
    <p:sldId id="278" r:id="rId3"/>
    <p:sldId id="257" r:id="rId4"/>
    <p:sldId id="258" r:id="rId5"/>
    <p:sldId id="323" r:id="rId6"/>
    <p:sldId id="331" r:id="rId7"/>
    <p:sldId id="330" r:id="rId8"/>
    <p:sldId id="333" r:id="rId9"/>
    <p:sldId id="334" r:id="rId10"/>
    <p:sldId id="261" r:id="rId11"/>
    <p:sldId id="335" r:id="rId12"/>
    <p:sldId id="336" r:id="rId13"/>
    <p:sldId id="361" r:id="rId14"/>
    <p:sldId id="337" r:id="rId15"/>
    <p:sldId id="338" r:id="rId16"/>
    <p:sldId id="340" r:id="rId17"/>
    <p:sldId id="324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50" r:id="rId26"/>
    <p:sldId id="349" r:id="rId27"/>
    <p:sldId id="351" r:id="rId28"/>
    <p:sldId id="348" r:id="rId29"/>
    <p:sldId id="352" r:id="rId30"/>
    <p:sldId id="353" r:id="rId31"/>
    <p:sldId id="354" r:id="rId32"/>
    <p:sldId id="355" r:id="rId33"/>
    <p:sldId id="359" r:id="rId34"/>
    <p:sldId id="358" r:id="rId35"/>
    <p:sldId id="356" r:id="rId36"/>
    <p:sldId id="357" r:id="rId37"/>
    <p:sldId id="36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0753FD7-2A9D-4E7A-B0C6-0DABBD947B59}">
          <p14:sldIdLst>
            <p14:sldId id="278"/>
            <p14:sldId id="257"/>
            <p14:sldId id="258"/>
            <p14:sldId id="323"/>
            <p14:sldId id="331"/>
            <p14:sldId id="330"/>
            <p14:sldId id="333"/>
            <p14:sldId id="334"/>
            <p14:sldId id="261"/>
            <p14:sldId id="335"/>
            <p14:sldId id="336"/>
            <p14:sldId id="361"/>
            <p14:sldId id="337"/>
            <p14:sldId id="338"/>
            <p14:sldId id="340"/>
            <p14:sldId id="324"/>
            <p14:sldId id="341"/>
            <p14:sldId id="342"/>
            <p14:sldId id="343"/>
            <p14:sldId id="344"/>
            <p14:sldId id="345"/>
            <p14:sldId id="346"/>
            <p14:sldId id="347"/>
            <p14:sldId id="350"/>
            <p14:sldId id="349"/>
          </p14:sldIdLst>
        </p14:section>
        <p14:section name="Untitled Section" id="{5C59B2D6-74D3-4442-8A53-55CC4F37E1C9}">
          <p14:sldIdLst>
            <p14:sldId id="351"/>
            <p14:sldId id="348"/>
            <p14:sldId id="352"/>
            <p14:sldId id="353"/>
            <p14:sldId id="354"/>
            <p14:sldId id="355"/>
            <p14:sldId id="359"/>
            <p14:sldId id="358"/>
            <p14:sldId id="356"/>
            <p14:sldId id="357"/>
            <p14:sldId id="3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E12519-356C-9531-DCAB-29855A7FF2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78424-9A1C-6750-B5A2-945C673E8C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1C793-38CF-482D-81C0-9B6262ADD30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46CBE3-1ADD-3537-34FF-D154627FAB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08A8A-B3C8-1389-CF3A-6806316A40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41C98-2A23-4466-A846-4F6CA9AE4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288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E7FB8-4CF6-4BA4-B801-04B5B95A8DA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FD9E6-EF52-4C9D-85D5-A1E9DB74D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21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75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7BFE7-3D72-29D7-0DDE-EE6C6119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D4A5BD70-9CA3-F83C-FCA9-8C3E98A3C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D09B5A3A-310D-15E6-2E67-18992C29968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9434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90220-E87E-A7BF-410D-051466432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1B2981DC-FB09-C213-8018-1F6362A29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3247FC84-7B17-15EE-A0A2-A292BA20F2A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1560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328E0-FFFA-7F06-3673-9C1675578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084729A3-2E60-98A9-A4BB-39404FA52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0F507944-D006-F09D-109E-3EC6F48FFB1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8231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5FC21-19E8-D10A-A33F-B57ACBFD6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FDBDEBFD-575B-033E-EFE1-C5714EAEC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7B4B7568-16BF-E655-9EBE-250C7458E3A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0815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15E0C-DBF9-267C-BA5A-43A548A14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328783A7-4B39-1EDA-4958-0D5E265C6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2BD59604-4A03-4F5A-49CA-26A7125F90E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2950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7C209-C0D9-1475-540D-E24C36D04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6B2BF466-3EEB-5574-5C18-09729FD01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3337DB91-9E22-A45B-CAF9-138E372C12E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9994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8C344-7EB3-32B9-E091-EC132C29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2C6CBA62-D867-A87F-E456-9A89E7C94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E14932B8-F0B6-1AE4-F74F-64EE03B5CB0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5688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0FA7D-86B2-F988-259F-26AB7C9F6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5CB0DE9D-946C-DE88-B5B7-C6DDD151B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A18401C8-B605-7604-71EB-1AACDC3D690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763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DF1BB-EE02-D602-A6FA-FE80BB96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724EB02A-F802-A0DB-558E-A916D9C3D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01D7FEDC-7C7C-55A1-098C-43B30808138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1427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6866-631C-AF58-9D6E-00CC36BD6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>
            <a:extLst>
              <a:ext uri="{FF2B5EF4-FFF2-40B4-BE49-F238E27FC236}">
                <a16:creationId xmlns:a16="http://schemas.microsoft.com/office/drawing/2014/main" id="{DA22E39D-2CC9-10AE-EE84-50BA6BF22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>
            <a:extLst>
              <a:ext uri="{FF2B5EF4-FFF2-40B4-BE49-F238E27FC236}">
                <a16:creationId xmlns:a16="http://schemas.microsoft.com/office/drawing/2014/main" id="{91BED33D-D2AB-A320-F04A-D658F42D4E4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8140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2297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55109-C2F8-5049-4B80-822165D9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1DDABA2-4DD3-0629-64E5-52C5B7D6E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A4A539AE-ED7F-040B-634E-2C6F0024744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96419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FB378-9742-2F0B-83E3-42D66154D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99E7AACC-60EF-1C25-2B10-1F234BBDD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AB74C086-4B69-33D2-1A3B-739B28E6C25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84396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875F4-C6D4-531B-3F0B-0C876853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08211EC2-3E3A-9DB7-7F63-81554ED3B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A0ACF95F-850B-3FF5-6D46-0D07F0C8200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09572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ACA10-6FF1-7B25-60A2-AD2A419EE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5B9D9BE0-972C-969D-0A0E-FC299CE7E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240296FD-69C8-10E0-1F4D-E82603FB877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54857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03752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46911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56713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92841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10794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49886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73801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06754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01181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277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23931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59000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31373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66025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D190-2465-DECC-1D2E-605C84767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E980A500-0D7F-BEFE-8AE4-25082A75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B674ED5C-9EFC-BA15-726C-A763EC2497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853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823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696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3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50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09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66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5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CSE, JnU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8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CSE, JnU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0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58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77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016000" y="2715120"/>
            <a:ext cx="4273200" cy="196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en-US" sz="5600" b="0" u="none" strike="noStrik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title"/>
          </p:nvPr>
        </p:nvSpPr>
        <p:spPr>
          <a:xfrm>
            <a:off x="2016000" y="1350000"/>
            <a:ext cx="1434600" cy="115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600" b="0" u="none" strike="noStrike">
                <a:solidFill>
                  <a:schemeClr val="dk1"/>
                </a:solidFill>
                <a:uFillTx/>
                <a:latin typeface="Calibri Light"/>
              </a:rPr>
              <a:t>xx%</a:t>
            </a:r>
            <a:endParaRPr lang="en-US" sz="56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6" name="Google Shape;20;p3"/>
          <p:cNvSpPr/>
          <p:nvPr/>
        </p:nvSpPr>
        <p:spPr>
          <a:xfrm>
            <a:off x="11054880" y="0"/>
            <a:ext cx="1136880" cy="685764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27" name="Google Shape;21;p3"/>
          <p:cNvCxnSpPr/>
          <p:nvPr/>
        </p:nvCxnSpPr>
        <p:spPr>
          <a:xfrm>
            <a:off x="5697360" y="6501240"/>
            <a:ext cx="64947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361666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CSE, JnU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7EE38A7-E291-4846-8EE6-75046924B9C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55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0E470-947C-2B07-390E-598DFE0C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A97703-CA35-2539-C9E6-891F1B724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DEF33-D948-4D75-288E-AC32F33BD15A}"/>
              </a:ext>
            </a:extLst>
          </p:cNvPr>
          <p:cNvSpPr txBox="1">
            <a:spLocks/>
          </p:cNvSpPr>
          <p:nvPr/>
        </p:nvSpPr>
        <p:spPr>
          <a:xfrm>
            <a:off x="3052335" y="2424197"/>
            <a:ext cx="6087330" cy="156473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Farhana Akter Suci (B190305001)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Nusrat Alam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Srabanti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(B190305045)</a:t>
            </a: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F374679E-4F10-E2A6-97B5-F4D9C1213C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273" y="107033"/>
            <a:ext cx="1105408" cy="94284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50BFAB3-0612-8608-56E6-6DD5EA940E4C}"/>
              </a:ext>
            </a:extLst>
          </p:cNvPr>
          <p:cNvSpPr txBox="1">
            <a:spLocks/>
          </p:cNvSpPr>
          <p:nvPr/>
        </p:nvSpPr>
        <p:spPr>
          <a:xfrm>
            <a:off x="1753292" y="1049881"/>
            <a:ext cx="8803178" cy="103815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Scanning Networks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BAEE968-1A38-990B-FC9C-ADDFC5992A7B}"/>
              </a:ext>
            </a:extLst>
          </p:cNvPr>
          <p:cNvSpPr txBox="1">
            <a:spLocks/>
          </p:cNvSpPr>
          <p:nvPr/>
        </p:nvSpPr>
        <p:spPr>
          <a:xfrm>
            <a:off x="3052335" y="4132039"/>
            <a:ext cx="6087330" cy="156473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to-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Mohammed Nasir Uddin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Department of CSE , Jagannath University</a:t>
            </a:r>
          </a:p>
        </p:txBody>
      </p:sp>
    </p:spTree>
    <p:extLst>
      <p:ext uri="{BB962C8B-B14F-4D97-AF65-F5344CB8AC3E}">
        <p14:creationId xmlns:p14="http://schemas.microsoft.com/office/powerpoint/2010/main" val="3198951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306;p43"/>
          <p:cNvGrpSpPr/>
          <p:nvPr/>
        </p:nvGrpSpPr>
        <p:grpSpPr>
          <a:xfrm>
            <a:off x="-11999" y="1666080"/>
            <a:ext cx="5477760" cy="4462200"/>
            <a:chOff x="0" y="1934640"/>
            <a:chExt cx="5477760" cy="4462200"/>
          </a:xfrm>
        </p:grpSpPr>
        <p:sp>
          <p:nvSpPr>
            <p:cNvPr id="98" name="Google Shape;307;p43"/>
            <p:cNvSpPr/>
            <p:nvPr/>
          </p:nvSpPr>
          <p:spPr>
            <a:xfrm>
              <a:off x="1340280" y="1934640"/>
              <a:ext cx="1136880" cy="4344862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2040" tIns="122040" rIns="122040" bIns="12204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cxnSp>
          <p:nvCxnSpPr>
            <p:cNvPr id="99" name="Google Shape;308;p43"/>
            <p:cNvCxnSpPr/>
            <p:nvPr/>
          </p:nvCxnSpPr>
          <p:spPr>
            <a:xfrm>
              <a:off x="0" y="6396480"/>
              <a:ext cx="547776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01" name="PlaceHolder 2"/>
          <p:cNvSpPr>
            <a:spLocks noGrp="1"/>
          </p:cNvSpPr>
          <p:nvPr>
            <p:ph type="subTitle" idx="4294967295"/>
          </p:nvPr>
        </p:nvSpPr>
        <p:spPr>
          <a:xfrm>
            <a:off x="2383705" y="1795954"/>
            <a:ext cx="6510805" cy="839454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930" dirty="0">
                <a:solidFill>
                  <a:schemeClr val="dk1"/>
                </a:solidFill>
                <a:latin typeface="Golos Text"/>
              </a:rPr>
              <a:t>Network Scanning Concepts</a:t>
            </a:r>
            <a:endParaRPr lang="en-US" sz="29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title" idx="4294967295"/>
          </p:nvPr>
        </p:nvSpPr>
        <p:spPr>
          <a:xfrm>
            <a:off x="1404656" y="1836659"/>
            <a:ext cx="1039333" cy="992815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" sz="4540" b="0" u="none" strike="noStrike" dirty="0">
                <a:solidFill>
                  <a:schemeClr val="bg1"/>
                </a:solidFill>
                <a:uFillTx/>
                <a:latin typeface="Calibri Light"/>
              </a:rPr>
              <a:t>1</a:t>
            </a:r>
            <a:endParaRPr lang="en-US" sz="4540" b="0" u="none" strike="noStrike" dirty="0">
              <a:solidFill>
                <a:schemeClr val="bg1"/>
              </a:solidFill>
              <a:uFillTx/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subTitle" idx="4294967295"/>
          </p:nvPr>
        </p:nvSpPr>
        <p:spPr>
          <a:xfrm>
            <a:off x="2395183" y="2587828"/>
            <a:ext cx="7720305" cy="763587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930" dirty="0">
                <a:solidFill>
                  <a:schemeClr val="dk1"/>
                </a:solidFill>
                <a:latin typeface="Golos Text"/>
              </a:rPr>
              <a:t>Scanning techniques for host discovery </a:t>
            </a:r>
            <a:endParaRPr lang="en-US" sz="29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title" idx="4294967295"/>
          </p:nvPr>
        </p:nvSpPr>
        <p:spPr>
          <a:xfrm>
            <a:off x="1404656" y="2597173"/>
            <a:ext cx="1039333" cy="93670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" sz="4540" b="0" u="none" strike="noStrike" dirty="0">
                <a:solidFill>
                  <a:schemeClr val="bg1"/>
                </a:solidFill>
                <a:uFillTx/>
                <a:latin typeface="Calibri Light"/>
              </a:rPr>
              <a:t>2</a:t>
            </a:r>
            <a:endParaRPr lang="en-US" sz="4540" b="0" u="none" strike="noStrike" dirty="0">
              <a:solidFill>
                <a:schemeClr val="bg1"/>
              </a:solidFill>
              <a:uFillTx/>
              <a:latin typeface="Calibri"/>
            </a:endParaRPr>
          </a:p>
        </p:txBody>
      </p:sp>
      <p:sp>
        <p:nvSpPr>
          <p:cNvPr id="106" name="PlaceHolder 7"/>
          <p:cNvSpPr>
            <a:spLocks noGrp="1"/>
          </p:cNvSpPr>
          <p:nvPr>
            <p:ph type="title" idx="4294967295"/>
          </p:nvPr>
        </p:nvSpPr>
        <p:spPr>
          <a:xfrm>
            <a:off x="1448258" y="4041735"/>
            <a:ext cx="935447" cy="854301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" sz="4540" b="0" u="none" strike="noStrike" dirty="0">
                <a:solidFill>
                  <a:schemeClr val="bg1"/>
                </a:solidFill>
                <a:uFillTx/>
                <a:latin typeface="Calibri Light"/>
              </a:rPr>
              <a:t>4</a:t>
            </a:r>
            <a:endParaRPr lang="en-US" sz="4540" b="0" u="none" strike="noStrike" dirty="0">
              <a:solidFill>
                <a:schemeClr val="bg1"/>
              </a:solidFill>
              <a:uFillTx/>
              <a:latin typeface="Calibri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 idx="4294967295"/>
          </p:nvPr>
        </p:nvSpPr>
        <p:spPr>
          <a:xfrm>
            <a:off x="884583" y="545590"/>
            <a:ext cx="2574234" cy="733425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" sz="4140" b="1" dirty="0">
                <a:solidFill>
                  <a:schemeClr val="tx2"/>
                </a:solidFill>
                <a:latin typeface="Calibri Light"/>
              </a:rPr>
              <a:t>Objectives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pic>
        <p:nvPicPr>
          <p:cNvPr id="109" name="Content Placeholder 7"/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12" name="Google Shape;315;p43"/>
          <p:cNvSpPr/>
          <p:nvPr/>
        </p:nvSpPr>
        <p:spPr>
          <a:xfrm>
            <a:off x="1356840" y="4025880"/>
            <a:ext cx="1168200" cy="15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454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Google Shape;317;p43"/>
          <p:cNvSpPr/>
          <p:nvPr/>
        </p:nvSpPr>
        <p:spPr>
          <a:xfrm>
            <a:off x="7862224" y="3307820"/>
            <a:ext cx="3631680" cy="10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b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9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Google Shape;321;p43"/>
          <p:cNvSpPr/>
          <p:nvPr/>
        </p:nvSpPr>
        <p:spPr>
          <a:xfrm>
            <a:off x="6710760" y="1879560"/>
            <a:ext cx="1168200" cy="15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454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Google Shape;321;p43"/>
          <p:cNvSpPr/>
          <p:nvPr/>
        </p:nvSpPr>
        <p:spPr>
          <a:xfrm>
            <a:off x="6726240" y="3128760"/>
            <a:ext cx="1168200" cy="153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454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5"/>
          <p:cNvSpPr txBox="1">
            <a:spLocks/>
          </p:cNvSpPr>
          <p:nvPr/>
        </p:nvSpPr>
        <p:spPr>
          <a:xfrm>
            <a:off x="1421273" y="3379117"/>
            <a:ext cx="1039333" cy="823599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sz="4540" dirty="0">
                <a:solidFill>
                  <a:schemeClr val="bg1"/>
                </a:solidFill>
                <a:latin typeface="Calibri Light"/>
              </a:rPr>
              <a:t>3</a:t>
            </a:r>
            <a:endParaRPr lang="en-US" sz="454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" name="PlaceHolder 4">
            <a:extLst>
              <a:ext uri="{FF2B5EF4-FFF2-40B4-BE49-F238E27FC236}">
                <a16:creationId xmlns:a16="http://schemas.microsoft.com/office/drawing/2014/main" id="{198280F1-BD14-6F71-982C-B7AD8F43496A}"/>
              </a:ext>
            </a:extLst>
          </p:cNvPr>
          <p:cNvSpPr txBox="1">
            <a:spLocks/>
          </p:cNvSpPr>
          <p:nvPr/>
        </p:nvSpPr>
        <p:spPr>
          <a:xfrm>
            <a:off x="2361798" y="3335924"/>
            <a:ext cx="8374560" cy="763587"/>
          </a:xfrm>
          <a:prstGeom prst="rect">
            <a:avLst/>
          </a:prstGeom>
          <a:noFill/>
          <a:ln w="0">
            <a:noFill/>
          </a:ln>
        </p:spPr>
        <p:txBody>
          <a:bodyPr vert="horz" lIns="122040" tIns="122040" rIns="122040" bIns="122040" rtlCol="0" anchor="b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buFont typeface="Calibri" panose="020F0502020204030204" pitchFamily="34" charset="0"/>
              <a:buNone/>
              <a:tabLst>
                <a:tab pos="0" algn="l"/>
              </a:tabLst>
            </a:pPr>
            <a:r>
              <a:rPr lang="en" sz="2930" dirty="0">
                <a:solidFill>
                  <a:schemeClr val="dk1"/>
                </a:solidFill>
                <a:latin typeface="Golos Text"/>
              </a:rPr>
              <a:t>Scanning techniques for port and service  discovery </a:t>
            </a:r>
            <a:endParaRPr lang="en-US" sz="293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>
            <a:extLst>
              <a:ext uri="{FF2B5EF4-FFF2-40B4-BE49-F238E27FC236}">
                <a16:creationId xmlns:a16="http://schemas.microsoft.com/office/drawing/2014/main" id="{6BB81490-0533-C230-495D-515FC3B759D8}"/>
              </a:ext>
            </a:extLst>
          </p:cNvPr>
          <p:cNvSpPr txBox="1">
            <a:spLocks/>
          </p:cNvSpPr>
          <p:nvPr/>
        </p:nvSpPr>
        <p:spPr>
          <a:xfrm>
            <a:off x="2361798" y="4087093"/>
            <a:ext cx="8374560" cy="763587"/>
          </a:xfrm>
          <a:prstGeom prst="rect">
            <a:avLst/>
          </a:prstGeom>
          <a:noFill/>
          <a:ln w="0">
            <a:noFill/>
          </a:ln>
        </p:spPr>
        <p:txBody>
          <a:bodyPr vert="horz" lIns="122040" tIns="122040" rIns="122040" bIns="122040" rtlCol="0" anchor="b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buFont typeface="Calibri" panose="020F0502020204030204" pitchFamily="34" charset="0"/>
              <a:buNone/>
              <a:tabLst>
                <a:tab pos="0" algn="l"/>
              </a:tabLst>
            </a:pPr>
            <a:r>
              <a:rPr lang="en" sz="2930" dirty="0">
                <a:solidFill>
                  <a:schemeClr val="dk1"/>
                </a:solidFill>
                <a:latin typeface="Golos Text"/>
              </a:rPr>
              <a:t>Scanning techniques for OS  discovery </a:t>
            </a:r>
            <a:endParaRPr lang="en-US" sz="293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>
            <a:extLst>
              <a:ext uri="{FF2B5EF4-FFF2-40B4-BE49-F238E27FC236}">
                <a16:creationId xmlns:a16="http://schemas.microsoft.com/office/drawing/2014/main" id="{D6340B47-0E24-D6B1-D420-78D3F0C19123}"/>
              </a:ext>
            </a:extLst>
          </p:cNvPr>
          <p:cNvSpPr txBox="1">
            <a:spLocks/>
          </p:cNvSpPr>
          <p:nvPr/>
        </p:nvSpPr>
        <p:spPr>
          <a:xfrm>
            <a:off x="2349994" y="4747475"/>
            <a:ext cx="8374560" cy="763587"/>
          </a:xfrm>
          <a:prstGeom prst="rect">
            <a:avLst/>
          </a:prstGeom>
          <a:noFill/>
          <a:ln w="0">
            <a:noFill/>
          </a:ln>
        </p:spPr>
        <p:txBody>
          <a:bodyPr vert="horz" lIns="122040" tIns="122040" rIns="122040" bIns="122040" rtlCol="0" anchor="b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buFont typeface="Calibri" panose="020F0502020204030204" pitchFamily="34" charset="0"/>
              <a:buNone/>
              <a:tabLst>
                <a:tab pos="0" algn="l"/>
              </a:tabLst>
            </a:pPr>
            <a:r>
              <a:rPr lang="en" sz="2930" dirty="0">
                <a:solidFill>
                  <a:schemeClr val="dk1"/>
                </a:solidFill>
                <a:latin typeface="Golos Text"/>
              </a:rPr>
              <a:t>Scanning beyond IDS and Firewall</a:t>
            </a:r>
            <a:endParaRPr lang="en-US" sz="293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7">
            <a:extLst>
              <a:ext uri="{FF2B5EF4-FFF2-40B4-BE49-F238E27FC236}">
                <a16:creationId xmlns:a16="http://schemas.microsoft.com/office/drawing/2014/main" id="{F5E385A3-4555-F5CA-36FD-BAF89CDF2E13}"/>
              </a:ext>
            </a:extLst>
          </p:cNvPr>
          <p:cNvSpPr txBox="1">
            <a:spLocks/>
          </p:cNvSpPr>
          <p:nvPr/>
        </p:nvSpPr>
        <p:spPr>
          <a:xfrm>
            <a:off x="1467446" y="4781525"/>
            <a:ext cx="935447" cy="854301"/>
          </a:xfrm>
          <a:prstGeom prst="rect">
            <a:avLst/>
          </a:prstGeom>
          <a:noFill/>
          <a:ln w="0">
            <a:noFill/>
          </a:ln>
        </p:spPr>
        <p:txBody>
          <a:bodyPr vert="horz" lIns="122040" tIns="122040" rIns="122040" bIns="12204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" sz="4540" dirty="0">
                <a:solidFill>
                  <a:schemeClr val="bg1"/>
                </a:solidFill>
                <a:latin typeface="Calibri Light"/>
              </a:rPr>
              <a:t>5</a:t>
            </a:r>
            <a:endParaRPr lang="en-US" sz="454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919E2-313E-3314-CB45-2D858D5F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/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/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/>
          <p:cNvSpPr/>
          <p:nvPr/>
        </p:nvSpPr>
        <p:spPr>
          <a:xfrm>
            <a:off x="0" y="6494400"/>
            <a:ext cx="12191760" cy="46021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ommissioner"/>
              </a:rPr>
              <a:t> Jagannath University</a:t>
            </a:r>
            <a:endParaRPr lang="en-US" sz="24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3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Google Shape;327;p44"/>
          <p:cNvSpPr/>
          <p:nvPr/>
        </p:nvSpPr>
        <p:spPr>
          <a:xfrm>
            <a:off x="468720" y="1539551"/>
            <a:ext cx="10008000" cy="40033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800" dirty="0"/>
          </a:p>
          <a:p>
            <a:pPr marR="0"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864EAA-D5BF-37C2-222D-32541B42F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39" y="591552"/>
            <a:ext cx="9999046" cy="51996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/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/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/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4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 idx="4294967295"/>
          </p:nvPr>
        </p:nvSpPr>
        <p:spPr>
          <a:xfrm>
            <a:off x="1145520" y="734400"/>
            <a:ext cx="5523840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u="none" strike="noStrike" dirty="0">
                <a:solidFill>
                  <a:schemeClr val="tx2"/>
                </a:solidFill>
                <a:uFillTx/>
                <a:latin typeface="Calibri Light"/>
              </a:rPr>
              <a:t>Netw</a:t>
            </a:r>
            <a:r>
              <a:rPr lang="en" sz="4140" b="1" dirty="0">
                <a:solidFill>
                  <a:schemeClr val="tx2"/>
                </a:solidFill>
                <a:latin typeface="Calibri Light"/>
              </a:rPr>
              <a:t>ork Scanning is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09A727-5F6F-2833-BAEC-2AB7B2807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23" y="1659285"/>
            <a:ext cx="515000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Systematic method to identify devices and services in a network.</a:t>
            </a: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Used by ethical hackers and security professionals.</a:t>
            </a:r>
          </a:p>
          <a:p>
            <a:pPr marL="800100" lvl="1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Helps assess network exposure and security weaknesses.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6318AD-1884-0879-5346-6801ECEBF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466" y="1474619"/>
            <a:ext cx="3965510" cy="3314041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F665C9-2460-AE1B-BBA7-D8D8E8AC60F5}"/>
              </a:ext>
            </a:extLst>
          </p:cNvPr>
          <p:cNvSpPr txBox="1"/>
          <p:nvPr/>
        </p:nvSpPr>
        <p:spPr>
          <a:xfrm>
            <a:off x="6894380" y="5014049"/>
            <a:ext cx="355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FIGURE 1. Network Scanning 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803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11100-79EF-3EA9-A04B-D669A354A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FF24B942-C28B-7FA9-37E3-095912B2039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D4FD0DC4-E062-070D-E25A-29010ADEBFB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83B2E406-0C4C-D5C6-C1EB-43AF3FBC87F3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CDF5C3B8-F277-C204-CF90-410D4F8CC6BE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5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15FB29A7-C886-7AC8-B882-9821F8013CF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21517" y="662265"/>
            <a:ext cx="8401242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u="none" strike="noStrike" dirty="0">
                <a:solidFill>
                  <a:schemeClr val="tx2"/>
                </a:solidFill>
                <a:uFillTx/>
                <a:latin typeface="Calibri Light"/>
              </a:rPr>
              <a:t>Objectives Of Netw</a:t>
            </a:r>
            <a:r>
              <a:rPr lang="en" sz="4140" b="1" dirty="0">
                <a:solidFill>
                  <a:schemeClr val="tx2"/>
                </a:solidFill>
                <a:latin typeface="Calibri Light"/>
              </a:rPr>
              <a:t>ork Scanning 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7535E721-D45D-F0E2-CF89-C0B8CD3AD738}"/>
              </a:ext>
            </a:extLst>
          </p:cNvPr>
          <p:cNvSpPr/>
          <p:nvPr/>
        </p:nvSpPr>
        <p:spPr>
          <a:xfrm>
            <a:off x="1145520" y="1708920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8C30C0-C713-A593-E0C0-EE23DDA2D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410" y="1620176"/>
            <a:ext cx="9881419" cy="3254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lvl="1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Identify active hosts and devices on the network</a:t>
            </a:r>
          </a:p>
          <a:p>
            <a:pPr marL="914400" lvl="1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Discover open ports and running services</a:t>
            </a:r>
          </a:p>
          <a:p>
            <a:pPr marL="914400" lvl="1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Detect potential vulnerabilities and misconfigurations</a:t>
            </a:r>
          </a:p>
          <a:p>
            <a:pPr marL="914400" lvl="1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Map the network structure and topology</a:t>
            </a:r>
          </a:p>
          <a:p>
            <a:pPr marL="914400" lvl="1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800" dirty="0"/>
              <a:t>Assess the overall security posture of the network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407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1FEB9-4254-6742-9FF0-A051FE74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A308F400-CDAC-BDBB-D599-586E13645E32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83403A78-9AA9-1A4C-15FD-16A19864877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7556D294-6968-B472-1DB3-D8949914771F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89977266-9AB1-9A40-BE6D-9632A0D4AB5C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6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795B93CC-A3D3-8B69-7D52-ED6E00B630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6963" y="669964"/>
            <a:ext cx="6795837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dirty="0">
                <a:solidFill>
                  <a:schemeClr val="tx2"/>
                </a:solidFill>
                <a:latin typeface="Calibri Light"/>
              </a:rPr>
              <a:t>Types of Network  Scanning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D77F35-EE36-A332-6968-B5E4947BE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790" y="1443841"/>
            <a:ext cx="507538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lvl="1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2"/>
                </a:solidFill>
              </a:rPr>
              <a:t>Port Scanning</a:t>
            </a:r>
            <a:r>
              <a:rPr lang="en-US" sz="2800" dirty="0"/>
              <a:t>: Identifies open ports on a system .</a:t>
            </a:r>
          </a:p>
          <a:p>
            <a:pPr marL="914400" lvl="1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Vulnerability Scanning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sz="2800" dirty="0"/>
              <a:t>Detects known security weaknesses and misconfigurations.</a:t>
            </a:r>
          </a:p>
          <a:p>
            <a:pPr marL="914400" lvl="1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2"/>
                </a:solidFill>
              </a:rPr>
              <a:t>Ping Scanning</a:t>
            </a:r>
            <a:r>
              <a:rPr lang="en-US" sz="2800" dirty="0"/>
              <a:t>: determine online/offline status of devices within a network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48D74C-9696-7EEA-5CCB-302E80366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80" y="1447804"/>
            <a:ext cx="4661452" cy="3364848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4C472D-EA46-0041-AB26-03D14894563C}"/>
              </a:ext>
            </a:extLst>
          </p:cNvPr>
          <p:cNvSpPr txBox="1"/>
          <p:nvPr/>
        </p:nvSpPr>
        <p:spPr>
          <a:xfrm>
            <a:off x="6864563" y="5040864"/>
            <a:ext cx="4112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FIGURE 2. Types of network Scanning 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417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ECBD5-6A9A-F68C-3BAF-FBC985FC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998F8203-F1E3-21BC-5741-8B46A2CB8624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F8CC7E6A-37FF-C490-69B5-4874C4A364C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50837970-2B32-282F-AC97-1CB10E8FD2B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062D4324-76FF-144D-8CC4-6723B68F7A25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8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4A71D39E-E54C-DD2E-C265-E4A64DA52B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04194" y="1140783"/>
            <a:ext cx="8937892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Nmap (Network Mapper):</a:t>
            </a:r>
            <a:r>
              <a:rPr lang="en-US" sz="2400" dirty="0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Used for network discovery, port scanning, and service identification.</a:t>
            </a:r>
            <a:r>
              <a:rPr lang="en" sz="2400" b="0" u="none" strike="noStrike" dirty="0">
                <a:solidFill>
                  <a:schemeClr val="accent5"/>
                </a:solidFill>
                <a:uFillTx/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 </a:t>
            </a:r>
            <a:endParaRPr lang="en-US" sz="2400" b="0" u="none" strike="noStrike" dirty="0">
              <a:solidFill>
                <a:schemeClr val="accent5"/>
              </a:solidFill>
              <a:uFillTx/>
              <a:latin typeface="Times New Roman" panose="02020603050405020304" pitchFamily="18" charset="0"/>
              <a:ea typeface="ADLaM Display" panose="020F0502020204030204" pitchFamily="2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D3FB4232-4C0E-8A27-B7E3-BC5B90877690}"/>
              </a:ext>
            </a:extLst>
          </p:cNvPr>
          <p:cNvSpPr/>
          <p:nvPr/>
        </p:nvSpPr>
        <p:spPr>
          <a:xfrm>
            <a:off x="1145520" y="1708920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2619C9-EC7A-F002-5046-9DE87EF95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236" y="2085019"/>
            <a:ext cx="8864850" cy="3834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E35127-2D56-4DC2-AF97-55229EC56D45}"/>
              </a:ext>
            </a:extLst>
          </p:cNvPr>
          <p:cNvSpPr/>
          <p:nvPr/>
        </p:nvSpPr>
        <p:spPr>
          <a:xfrm>
            <a:off x="1590069" y="5623877"/>
            <a:ext cx="8757055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  <a:tabLst>
                <a:tab pos="0" algn="l"/>
              </a:tabLst>
            </a:pP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                          FIGURE 1. Screenshot displaying Nmap scan </a:t>
            </a:r>
            <a:r>
              <a:rPr lang="en-US" dirty="0" err="1">
                <a:solidFill>
                  <a:schemeClr val="tx2"/>
                </a:solidFill>
              </a:rPr>
              <a:t>resilts</a:t>
            </a:r>
            <a:r>
              <a:rPr lang="en-US" dirty="0">
                <a:solidFill>
                  <a:schemeClr val="tx2"/>
                </a:solidFill>
              </a:rPr>
              <a:t> .</a:t>
            </a:r>
            <a:endParaRPr lang="en-US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FE1D84FC-7D8C-FF09-398A-2C372992AAC3}"/>
              </a:ext>
            </a:extLst>
          </p:cNvPr>
          <p:cNvSpPr txBox="1">
            <a:spLocks/>
          </p:cNvSpPr>
          <p:nvPr/>
        </p:nvSpPr>
        <p:spPr>
          <a:xfrm>
            <a:off x="1304194" y="449272"/>
            <a:ext cx="5441013" cy="610554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4140" b="1" dirty="0">
                <a:solidFill>
                  <a:schemeClr val="tx2"/>
                </a:solidFill>
                <a:latin typeface="Calibri Light"/>
              </a:rPr>
              <a:t>Scanning Tools  </a:t>
            </a:r>
            <a:endParaRPr lang="en-US" sz="4140" b="1" dirty="0">
              <a:solidFill>
                <a:schemeClr val="tx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5166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ED7D0-670E-B9D6-1858-4E9EEC35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CECD5C2A-3A56-3F05-7235-C93497E0E806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C163D747-C0F9-155A-E9D8-B69D865AE4D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6E3689A4-DF5E-E342-54A6-017F9120B6F5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FD929625-CF80-8E32-C612-A0514D84001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9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FE9BD943-B831-7C60-D8FB-7F882439FDC1}"/>
              </a:ext>
            </a:extLst>
          </p:cNvPr>
          <p:cNvSpPr/>
          <p:nvPr/>
        </p:nvSpPr>
        <p:spPr>
          <a:xfrm>
            <a:off x="1108260" y="1894781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/>
              <a:t>Hping3:</a:t>
            </a:r>
            <a:r>
              <a:rPr lang="en-US" sz="2400" dirty="0"/>
              <a:t>A packet-crafting tool used for advanced network testing and firewall analysis.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 err="1"/>
              <a:t>Metasploit:</a:t>
            </a:r>
            <a:r>
              <a:rPr lang="en-US" sz="2400" dirty="0" err="1"/>
              <a:t>A</a:t>
            </a:r>
            <a:r>
              <a:rPr lang="en-US" sz="2400" dirty="0"/>
              <a:t> security framework used to test vulnerabilities and validate security weaknesses.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 err="1"/>
              <a:t>NetScan</a:t>
            </a:r>
            <a:r>
              <a:rPr lang="en-US" sz="2800" b="1" dirty="0"/>
              <a:t> Tools </a:t>
            </a:r>
            <a:r>
              <a:rPr lang="en-US" sz="2800" b="1" dirty="0" err="1"/>
              <a:t>Pro:</a:t>
            </a:r>
            <a:r>
              <a:rPr lang="en-US" sz="2400" dirty="0" err="1"/>
              <a:t>A</a:t>
            </a:r>
            <a:r>
              <a:rPr lang="en-US" sz="2400" dirty="0"/>
              <a:t> Windows-based toolkit for network scanning, diagnostics, and security auditing.</a:t>
            </a: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73EECDA-53C1-497B-86F7-FA3AEF6B2D61}"/>
              </a:ext>
            </a:extLst>
          </p:cNvPr>
          <p:cNvSpPr txBox="1">
            <a:spLocks/>
          </p:cNvSpPr>
          <p:nvPr/>
        </p:nvSpPr>
        <p:spPr>
          <a:xfrm>
            <a:off x="1028891" y="1129162"/>
            <a:ext cx="5441013" cy="610554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4140" b="1" dirty="0">
                <a:solidFill>
                  <a:schemeClr val="tx2"/>
                </a:solidFill>
                <a:latin typeface="Calibri Light"/>
              </a:rPr>
              <a:t>Scanning Tools (Cont..) </a:t>
            </a:r>
            <a:endParaRPr lang="en-US" sz="4140" b="1" dirty="0">
              <a:solidFill>
                <a:schemeClr val="tx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139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/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/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/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10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9ACFF2-13BE-7A4C-3457-317B8F29B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05" y="875071"/>
            <a:ext cx="10059909" cy="45326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DE84-24D8-D55B-AE38-B4EA5D680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0EBE792D-3903-80F1-7A4C-376DD5B6899A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BC70F592-8133-D2D1-4043-6CFC983391AF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551C6DD7-4EF5-0A86-EBA9-80021CDBD114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039A8BFF-9CB3-1ED7-22F3-472236D7A27B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11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2CBD2584-9573-502B-BE58-17D8563B203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5520" y="734400"/>
            <a:ext cx="5523840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dirty="0">
                <a:solidFill>
                  <a:schemeClr val="tx2"/>
                </a:solidFill>
                <a:latin typeface="Calibri Light"/>
              </a:rPr>
              <a:t>Host discovery is 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C9E64A3F-7375-07F7-72D5-8A63A881D09F}"/>
              </a:ext>
            </a:extLst>
          </p:cNvPr>
          <p:cNvSpPr/>
          <p:nvPr/>
        </p:nvSpPr>
        <p:spPr>
          <a:xfrm>
            <a:off x="1145520" y="1708920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89C75F-B91F-98DB-48FD-1866124AB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50" y="2678613"/>
            <a:ext cx="98814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EABDC-1E86-0725-63B4-DAB0C56AE751}"/>
              </a:ext>
            </a:extLst>
          </p:cNvPr>
          <p:cNvSpPr txBox="1"/>
          <p:nvPr/>
        </p:nvSpPr>
        <p:spPr>
          <a:xfrm>
            <a:off x="1595284" y="1931850"/>
            <a:ext cx="77748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Process of identifying live (active) hosts in a network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Performed before detailed scanning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Used by ethical hackers and security professionals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Multiple techniques are applied since firewalls may block some methods</a:t>
            </a:r>
          </a:p>
        </p:txBody>
      </p:sp>
    </p:spTree>
    <p:extLst>
      <p:ext uri="{BB962C8B-B14F-4D97-AF65-F5344CB8AC3E}">
        <p14:creationId xmlns:p14="http://schemas.microsoft.com/office/powerpoint/2010/main" val="1312269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A9BE8-CC81-DB06-B7B5-8C7B1E5C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D57A6CAC-1137-FFBC-97FA-A3CEE90B8890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67AF1D9D-FFDB-3185-8E24-F1284B27DFC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F385FA41-D4F0-3BA2-7CFB-806BB835AAAB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C8006857-ED65-BABB-8A64-D15CAC06D441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12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5EF8C21A-C431-0C87-9C79-46F01C15D44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5520" y="734400"/>
            <a:ext cx="5523840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u="none" strike="noStrike" dirty="0">
                <a:solidFill>
                  <a:schemeClr val="tx2"/>
                </a:solidFill>
                <a:uFillTx/>
                <a:latin typeface="Calibri Light"/>
              </a:rPr>
              <a:t>Types </a:t>
            </a:r>
            <a:r>
              <a:rPr lang="en" sz="4140" b="1" dirty="0">
                <a:solidFill>
                  <a:schemeClr val="tx2"/>
                </a:solidFill>
                <a:latin typeface="Calibri Light"/>
              </a:rPr>
              <a:t>Of Host Discovery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11F03682-3C5A-ACC3-BF4A-E34C13515AB2}"/>
              </a:ext>
            </a:extLst>
          </p:cNvPr>
          <p:cNvSpPr/>
          <p:nvPr/>
        </p:nvSpPr>
        <p:spPr>
          <a:xfrm>
            <a:off x="1145520" y="1708920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FCE30C-D7F8-8B87-B560-C62625044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50" y="2678613"/>
            <a:ext cx="98814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208F8-E99E-4059-6932-3DB406E2860E}"/>
              </a:ext>
            </a:extLst>
          </p:cNvPr>
          <p:cNvSpPr txBox="1"/>
          <p:nvPr/>
        </p:nvSpPr>
        <p:spPr>
          <a:xfrm>
            <a:off x="1477431" y="1625400"/>
            <a:ext cx="94309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ARP Ping Scan:</a:t>
            </a:r>
            <a:br>
              <a:rPr lang="en-US" sz="2800" dirty="0"/>
            </a:br>
            <a:r>
              <a:rPr lang="en-US" sz="2800" dirty="0"/>
              <a:t>Identifies live hosts in a local network using ARP requests.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UDP Ping Scan:</a:t>
            </a:r>
            <a:br>
              <a:rPr lang="en-US" sz="2800" dirty="0"/>
            </a:br>
            <a:r>
              <a:rPr lang="en-US" sz="2800" dirty="0"/>
              <a:t>Detects active hosts by sending UDP packets and analyzing responses.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ICMP Ping Scan:</a:t>
            </a:r>
            <a:br>
              <a:rPr lang="en-US" sz="2800" dirty="0"/>
            </a:br>
            <a:r>
              <a:rPr lang="en-US" sz="2800" dirty="0"/>
              <a:t>Uses ICMP echo requests to check host availability.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TCP Ping Scan:</a:t>
            </a:r>
            <a:br>
              <a:rPr lang="en-US" sz="2800" dirty="0"/>
            </a:br>
            <a:r>
              <a:rPr lang="en-US" sz="2800" dirty="0"/>
              <a:t>Determines live hosts by sending TCP packets to common ports.</a:t>
            </a:r>
          </a:p>
        </p:txBody>
      </p:sp>
    </p:spTree>
    <p:extLst>
      <p:ext uri="{BB962C8B-B14F-4D97-AF65-F5344CB8AC3E}">
        <p14:creationId xmlns:p14="http://schemas.microsoft.com/office/powerpoint/2010/main" val="2441860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D8BB2-AF99-9E40-B0E4-78198D90A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BC571AA4-C0C2-7646-1FBC-840662493CB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FD950C15-0E45-284A-63D6-EAF065182AF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FD6F1109-B2A1-0899-8F0A-9DBD5C6CA01F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4317DA61-2801-F6C5-1774-A08906048871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12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3C52A006-E200-CAC9-1DED-E8F314CA084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95302" y="366313"/>
            <a:ext cx="10286966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dirty="0">
                <a:solidFill>
                  <a:schemeClr val="tx2"/>
                </a:solidFill>
                <a:latin typeface="Calibri Light"/>
              </a:rPr>
              <a:t>Comparative Analysis of  Host Discovery Techniques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38BA5587-8F64-E769-C102-811D9D8BD9C8}"/>
              </a:ext>
            </a:extLst>
          </p:cNvPr>
          <p:cNvSpPr/>
          <p:nvPr/>
        </p:nvSpPr>
        <p:spPr>
          <a:xfrm>
            <a:off x="1145520" y="1708920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F59BE5-FEAE-667D-1627-C766113E6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50" y="2678613"/>
            <a:ext cx="98814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533677-4362-357B-BA59-06EC2ADA6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376929"/>
              </p:ext>
            </p:extLst>
          </p:nvPr>
        </p:nvGraphicFramePr>
        <p:xfrm>
          <a:off x="1043608" y="1704109"/>
          <a:ext cx="9750288" cy="4176309"/>
        </p:xfrm>
        <a:graphic>
          <a:graphicData uri="http://schemas.openxmlformats.org/drawingml/2006/table">
            <a:tbl>
              <a:tblPr/>
              <a:tblGrid>
                <a:gridCol w="2437572">
                  <a:extLst>
                    <a:ext uri="{9D8B030D-6E8A-4147-A177-3AD203B41FA5}">
                      <a16:colId xmlns:a16="http://schemas.microsoft.com/office/drawing/2014/main" val="2025786616"/>
                    </a:ext>
                  </a:extLst>
                </a:gridCol>
                <a:gridCol w="2437572">
                  <a:extLst>
                    <a:ext uri="{9D8B030D-6E8A-4147-A177-3AD203B41FA5}">
                      <a16:colId xmlns:a16="http://schemas.microsoft.com/office/drawing/2014/main" val="2422276802"/>
                    </a:ext>
                  </a:extLst>
                </a:gridCol>
                <a:gridCol w="2437572">
                  <a:extLst>
                    <a:ext uri="{9D8B030D-6E8A-4147-A177-3AD203B41FA5}">
                      <a16:colId xmlns:a16="http://schemas.microsoft.com/office/drawing/2014/main" val="1825232102"/>
                    </a:ext>
                  </a:extLst>
                </a:gridCol>
                <a:gridCol w="2437572">
                  <a:extLst>
                    <a:ext uri="{9D8B030D-6E8A-4147-A177-3AD203B41FA5}">
                      <a16:colId xmlns:a16="http://schemas.microsoft.com/office/drawing/2014/main" val="1528106510"/>
                    </a:ext>
                  </a:extLst>
                </a:gridCol>
              </a:tblGrid>
              <a:tr h="344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Scan Type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When to Use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Best For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Limitations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6362"/>
                  </a:ext>
                </a:extLst>
              </a:tr>
              <a:tr h="864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ARP Ping Scan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When scanning within the same local network (LAN)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Most reliable LAN host discovery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 Works only in local subnet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283496"/>
                  </a:ext>
                </a:extLst>
              </a:tr>
              <a:tr h="1110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UDP Ping Scan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When ICMP/TCP is blocked but UDP allowed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Detecting hosts with UDP services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 Slow, high false negatives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075548"/>
                  </a:ext>
                </a:extLst>
              </a:tr>
              <a:tr h="693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ICMP Ping Scan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Quick checks on open networks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Fast and simple discovery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 Often blocked by firewalls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163031"/>
                  </a:ext>
                </a:extLst>
              </a:tr>
              <a:tr h="902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/>
                        <a:t>TCP Ping Scan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When ICMP is blocked but TCP allowed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Firewall-friendly discovery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/>
                        <a:t> Needs open TCP ports</a:t>
                      </a:r>
                    </a:p>
                  </a:txBody>
                  <a:tcPr marL="79534" marR="79534" marT="39767" marB="39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917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043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B4C8-2064-C26D-740D-C0EDF9FE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1F49ACEF-E39D-8BF4-3322-DEE8CC49637E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7869E4A7-6C16-86F6-9D7C-AE97465B065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604AD8D9-1C1E-8C82-415F-54C64AF45473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F1F48185-2278-AB6E-4E0A-DD3BA8A0C525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13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080D4DAC-0FFE-F191-0B48-C46C741E8D4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2397" y="688410"/>
            <a:ext cx="7614662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dirty="0">
                <a:solidFill>
                  <a:schemeClr val="tx2"/>
                </a:solidFill>
                <a:latin typeface="Calibri Light"/>
              </a:rPr>
              <a:t>How ARP Ping Scan Works ?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A4334AAA-2D1F-D88C-4214-4B52C86BD64B}"/>
              </a:ext>
            </a:extLst>
          </p:cNvPr>
          <p:cNvSpPr/>
          <p:nvPr/>
        </p:nvSpPr>
        <p:spPr>
          <a:xfrm>
            <a:off x="1145520" y="1708920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3115A0-A504-1E59-6140-FD170D733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50" y="2678613"/>
            <a:ext cx="98814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D0939-9550-3FA1-6B24-E011A6147296}"/>
              </a:ext>
            </a:extLst>
          </p:cNvPr>
          <p:cNvSpPr txBox="1"/>
          <p:nvPr/>
        </p:nvSpPr>
        <p:spPr>
          <a:xfrm>
            <a:off x="907671" y="1732760"/>
            <a:ext cx="45770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Sends </a:t>
            </a:r>
            <a:r>
              <a:rPr lang="en-US" sz="2400" b="1" dirty="0"/>
              <a:t>ARP request messages</a:t>
            </a:r>
            <a:r>
              <a:rPr lang="en-US" sz="2400" dirty="0"/>
              <a:t> to IP addresses in the local network</a:t>
            </a:r>
            <a:endParaRPr lang="en-US" sz="2400" i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Active devices reply with their </a:t>
            </a:r>
            <a:r>
              <a:rPr lang="en-US" sz="2400" b="1" dirty="0"/>
              <a:t>MAC address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Devices that respond are identified as </a:t>
            </a:r>
            <a:r>
              <a:rPr lang="en-US" sz="2400" b="1" dirty="0"/>
              <a:t>live hosts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Effective even when </a:t>
            </a:r>
            <a:r>
              <a:rPr lang="en-US" sz="2400" b="1" dirty="0"/>
              <a:t>firewalls block ICMP or TCP scans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2B5930-A70F-5F4C-6751-4150DD5EB1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226" y="1886534"/>
            <a:ext cx="3972146" cy="23276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D1F80B-90B9-E57E-620B-339FA21303AD}"/>
              </a:ext>
            </a:extLst>
          </p:cNvPr>
          <p:cNvSpPr txBox="1"/>
          <p:nvPr/>
        </p:nvSpPr>
        <p:spPr>
          <a:xfrm>
            <a:off x="6934137" y="4636938"/>
            <a:ext cx="4112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FIGURE 2. ARP ping Scan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980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00780-0063-688F-374D-CB89DC75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33BF5389-E5E1-C06C-E87F-C55A11B6FD7B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73506EF5-F697-CA2D-5D8E-7B48582D96FB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93E69594-148F-C39C-4778-46E4AEF0168E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BFBF336C-3B05-F618-31CC-7251119FC187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15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0DCEA898-7609-7885-90B4-4644954746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5520" y="734400"/>
            <a:ext cx="7889964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dirty="0">
                <a:solidFill>
                  <a:schemeClr val="tx2"/>
                </a:solidFill>
                <a:latin typeface="Calibri Light"/>
              </a:rPr>
              <a:t>How UDP Ping Scan  Works ?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08AACF6D-AE0D-AFD8-DC50-0E0663542F30}"/>
              </a:ext>
            </a:extLst>
          </p:cNvPr>
          <p:cNvSpPr/>
          <p:nvPr/>
        </p:nvSpPr>
        <p:spPr>
          <a:xfrm>
            <a:off x="1047661" y="1563205"/>
            <a:ext cx="5834919" cy="44012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F59AF4-C8E8-9259-A592-39004C173036}"/>
              </a:ext>
            </a:extLst>
          </p:cNvPr>
          <p:cNvSpPr txBox="1"/>
          <p:nvPr/>
        </p:nvSpPr>
        <p:spPr>
          <a:xfrm>
            <a:off x="1047661" y="1563205"/>
            <a:ext cx="547004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Sends UDP packets to specific ports on target hosts.</a:t>
            </a:r>
            <a:endParaRPr lang="en-US" sz="2800" i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If the host is active and the port is closed, it may reply with an ICMP “Port Unreachable” message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Receiving this response indicates the host is live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No response may mean the host is inactive, filtered, or the port is open</a:t>
            </a:r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40F57A-BBB9-541E-8372-CDB2AEE90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267" y="1337097"/>
            <a:ext cx="3963224" cy="1952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F0B003-69D4-8A00-4B1D-0866A5F06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580" y="3949817"/>
            <a:ext cx="3873911" cy="16099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92EBED-4B2F-F6DE-49A8-A3AB6F96C8C2}"/>
              </a:ext>
            </a:extLst>
          </p:cNvPr>
          <p:cNvSpPr/>
          <p:nvPr/>
        </p:nvSpPr>
        <p:spPr>
          <a:xfrm>
            <a:off x="6882580" y="5270334"/>
            <a:ext cx="4244008" cy="1027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  <a:tabLst>
                <a:tab pos="0" algn="l"/>
              </a:tabLst>
            </a:pPr>
            <a:br>
              <a:rPr lang="en-US" dirty="0"/>
            </a:br>
            <a:r>
              <a:rPr lang="en-US" dirty="0">
                <a:solidFill>
                  <a:schemeClr val="tx2"/>
                </a:solidFill>
              </a:rPr>
              <a:t>FIGURE 3. UDP ping scan  to determine if the host is offline .</a:t>
            </a:r>
            <a:endParaRPr lang="en-US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FD3CE3-65BB-071E-BFA8-653DC8DD0532}"/>
              </a:ext>
            </a:extLst>
          </p:cNvPr>
          <p:cNvSpPr/>
          <p:nvPr/>
        </p:nvSpPr>
        <p:spPr>
          <a:xfrm>
            <a:off x="6834632" y="2903233"/>
            <a:ext cx="4244008" cy="1027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  <a:tabLst>
                <a:tab pos="0" algn="l"/>
              </a:tabLst>
            </a:pPr>
            <a:br>
              <a:rPr lang="en-US" dirty="0"/>
            </a:br>
            <a:r>
              <a:rPr lang="en-US" dirty="0">
                <a:solidFill>
                  <a:schemeClr val="tx2"/>
                </a:solidFill>
              </a:rPr>
              <a:t>FIGURE 2. UDP ping scan  to determine if the host is active .</a:t>
            </a:r>
            <a:endParaRPr lang="en-US" dirty="0">
              <a:solidFill>
                <a:schemeClr val="tx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9568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DF931-7141-FE21-EA58-6696084C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334;p45">
            <a:extLst>
              <a:ext uri="{FF2B5EF4-FFF2-40B4-BE49-F238E27FC236}">
                <a16:creationId xmlns:a16="http://schemas.microsoft.com/office/drawing/2014/main" id="{9661D415-4BA9-8685-8864-33A57163F8A6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19" name="Content Placeholder 7">
            <a:extLst>
              <a:ext uri="{FF2B5EF4-FFF2-40B4-BE49-F238E27FC236}">
                <a16:creationId xmlns:a16="http://schemas.microsoft.com/office/drawing/2014/main" id="{1A720E39-48A9-4FF8-81F7-3C15A2F924A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>
            <a:extLst>
              <a:ext uri="{FF2B5EF4-FFF2-40B4-BE49-F238E27FC236}">
                <a16:creationId xmlns:a16="http://schemas.microsoft.com/office/drawing/2014/main" id="{A1BF5152-A759-811E-29C3-6B99E0FA910E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BEAB89FA-6503-50AF-1103-DDF76E2FC690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16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1">
            <a:extLst>
              <a:ext uri="{FF2B5EF4-FFF2-40B4-BE49-F238E27FC236}">
                <a16:creationId xmlns:a16="http://schemas.microsoft.com/office/drawing/2014/main" id="{BAFDB546-3E8F-A0BA-5938-54EA690B387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6951" y="734400"/>
            <a:ext cx="10256463" cy="116824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" sz="4140" b="1" dirty="0">
                <a:solidFill>
                  <a:schemeClr val="tx2"/>
                </a:solidFill>
                <a:latin typeface="Calibri Light"/>
              </a:rPr>
              <a:t>Host Discovery Traditional Scanning VS  With AI </a:t>
            </a:r>
            <a:endParaRPr lang="en-US" sz="4140" b="1" u="none" strike="noStrike" dirty="0">
              <a:solidFill>
                <a:schemeClr val="tx2"/>
              </a:solidFill>
              <a:uFillTx/>
              <a:latin typeface="Calibri"/>
            </a:endParaRPr>
          </a:p>
        </p:txBody>
      </p:sp>
      <p:sp>
        <p:nvSpPr>
          <p:cNvPr id="123" name="Google Shape;327;p44">
            <a:extLst>
              <a:ext uri="{FF2B5EF4-FFF2-40B4-BE49-F238E27FC236}">
                <a16:creationId xmlns:a16="http://schemas.microsoft.com/office/drawing/2014/main" id="{80253EF4-FA86-B1BB-81F6-DD1D9B237564}"/>
              </a:ext>
            </a:extLst>
          </p:cNvPr>
          <p:cNvSpPr/>
          <p:nvPr/>
        </p:nvSpPr>
        <p:spPr>
          <a:xfrm>
            <a:off x="1145520" y="1708920"/>
            <a:ext cx="9331200" cy="38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2040" tIns="122040" rIns="122040" bIns="122040" anchor="t">
            <a:noAutofit/>
          </a:bodyPr>
          <a:lstStyle/>
          <a:p>
            <a:br>
              <a:rPr lang="en-US" altLang="en-US" sz="3200" dirty="0">
                <a:latin typeface="Arial" panose="020B0604020202020204" pitchFamily="34" charset="0"/>
              </a:rPr>
            </a:br>
            <a:endParaRPr lang="en-US" dirty="0"/>
          </a:p>
          <a:p>
            <a:pPr defTabSz="914400">
              <a:lnSpc>
                <a:spcPct val="115000"/>
              </a:lnSpc>
              <a:buClr>
                <a:srgbClr val="000000"/>
              </a:buClr>
            </a:pP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endParaRPr lang="en-US" sz="213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200E9A-DCA2-9119-CADE-FA8D5D589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50" y="2678613"/>
            <a:ext cx="98814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C89406-1376-0925-42FD-0FF027449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710285"/>
              </p:ext>
            </p:extLst>
          </p:nvPr>
        </p:nvGraphicFramePr>
        <p:xfrm>
          <a:off x="1248697" y="1907459"/>
          <a:ext cx="9228023" cy="3972231"/>
        </p:xfrm>
        <a:graphic>
          <a:graphicData uri="http://schemas.openxmlformats.org/drawingml/2006/table">
            <a:tbl>
              <a:tblPr/>
              <a:tblGrid>
                <a:gridCol w="4614011">
                  <a:extLst>
                    <a:ext uri="{9D8B030D-6E8A-4147-A177-3AD203B41FA5}">
                      <a16:colId xmlns:a16="http://schemas.microsoft.com/office/drawing/2014/main" val="1628262769"/>
                    </a:ext>
                  </a:extLst>
                </a:gridCol>
                <a:gridCol w="4614012">
                  <a:extLst>
                    <a:ext uri="{9D8B030D-6E8A-4147-A177-3AD203B41FA5}">
                      <a16:colId xmlns:a16="http://schemas.microsoft.com/office/drawing/2014/main" val="3594273704"/>
                    </a:ext>
                  </a:extLst>
                </a:gridCol>
              </a:tblGrid>
              <a:tr h="694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Traditional Scanning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AI‑Based Host Discovery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600570"/>
                  </a:ext>
                </a:extLst>
              </a:tr>
              <a:tr h="69415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 dirty="0"/>
                        <a:t>Rule‑based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 dirty="0"/>
                        <a:t>Learns from network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340939"/>
                  </a:ext>
                </a:extLst>
              </a:tr>
              <a:tr h="69415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/>
                        <a:t>Noisy and easily detectable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 dirty="0"/>
                        <a:t>More stealthy and efficient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963556"/>
                  </a:ext>
                </a:extLst>
              </a:tr>
              <a:tr h="69415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/>
                        <a:t>Fails when packets are blocked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 dirty="0"/>
                        <a:t>Adapts to different environments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834674"/>
                  </a:ext>
                </a:extLst>
              </a:tr>
              <a:tr h="69415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 dirty="0"/>
                        <a:t>Limited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2800" dirty="0"/>
                        <a:t>Reduces false negatives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601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668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/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/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/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17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E0915-8EE2-B1D9-C4D9-0262142EF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99" y="709755"/>
            <a:ext cx="10264597" cy="514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32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8ABE-4A9F-3731-9806-1C971C9C0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AC2429DB-8B75-5600-F7E7-8F5A8BDA079E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C3260BC9-4F15-4DD9-615E-50BF7D4BEF8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5DC1E319-504E-02D1-F6F8-BD79FD0FC53D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69D4263B-98F8-F3A1-BEDE-3C254EE02338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18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DD0A233F-5E60-E62F-EA11-9BED476A242A}"/>
              </a:ext>
            </a:extLst>
          </p:cNvPr>
          <p:cNvSpPr txBox="1">
            <a:spLocks/>
          </p:cNvSpPr>
          <p:nvPr/>
        </p:nvSpPr>
        <p:spPr>
          <a:xfrm>
            <a:off x="1145520" y="734400"/>
            <a:ext cx="7889964" cy="89100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4140" b="1" dirty="0">
                <a:solidFill>
                  <a:schemeClr val="tx2"/>
                </a:solidFill>
                <a:latin typeface="Calibri Light"/>
              </a:rPr>
              <a:t>What is Port and Service Discovery? </a:t>
            </a:r>
            <a:endParaRPr lang="en-US" sz="4140" b="1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C6EC08-DE7E-1080-2C8A-8A2E2C872613}"/>
              </a:ext>
            </a:extLst>
          </p:cNvPr>
          <p:cNvSpPr txBox="1"/>
          <p:nvPr/>
        </p:nvSpPr>
        <p:spPr>
          <a:xfrm>
            <a:off x="1283635" y="1902792"/>
            <a:ext cx="92052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Port Discovery:</a:t>
            </a:r>
            <a:r>
              <a:rPr lang="en-US" sz="2800" dirty="0"/>
              <a:t> Identifies </a:t>
            </a:r>
            <a:r>
              <a:rPr lang="en-US" sz="2800" b="1" dirty="0"/>
              <a:t>open ports</a:t>
            </a:r>
            <a:r>
              <a:rPr lang="en-US" sz="2800" dirty="0"/>
              <a:t> on a system that can communicate over the network.</a:t>
            </a:r>
            <a:endParaRPr lang="en-US" sz="2800" i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Service Discovery:</a:t>
            </a:r>
            <a:r>
              <a:rPr lang="en-US" sz="2800" dirty="0"/>
              <a:t> Determines the </a:t>
            </a:r>
            <a:r>
              <a:rPr lang="en-US" sz="2800" b="1" dirty="0"/>
              <a:t>services and applications</a:t>
            </a:r>
            <a:r>
              <a:rPr lang="en-US" sz="2800" dirty="0"/>
              <a:t> running on those open ports.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It helps security professionals </a:t>
            </a:r>
            <a:r>
              <a:rPr lang="en-US" sz="2800" b="1" dirty="0"/>
              <a:t>map the network</a:t>
            </a:r>
            <a:r>
              <a:rPr lang="en-US" sz="2800" dirty="0"/>
              <a:t>, </a:t>
            </a:r>
            <a:r>
              <a:rPr lang="en-US" sz="2800" b="1" dirty="0"/>
              <a:t>detect vulnerabilities</a:t>
            </a:r>
            <a:r>
              <a:rPr lang="en-US" sz="2800" dirty="0"/>
              <a:t>, and understand </a:t>
            </a:r>
            <a:r>
              <a:rPr lang="en-US" sz="2800" b="1" dirty="0"/>
              <a:t>potential attack points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7496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647D-EA5A-1902-1D1D-318560FF8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742C1D29-A1FC-DB46-2254-9A5A970AB81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FE5BB768-6445-CDF7-8E45-FD2771D29540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ACF3A908-97FE-866A-4D1C-16E4549DF4F8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C3EFE001-DAF5-1D00-BED0-5A84D33FC770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19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CBBBDC2A-307D-5C6F-1556-9E5CD827B3F2}"/>
              </a:ext>
            </a:extLst>
          </p:cNvPr>
          <p:cNvSpPr txBox="1">
            <a:spLocks/>
          </p:cNvSpPr>
          <p:nvPr/>
        </p:nvSpPr>
        <p:spPr>
          <a:xfrm>
            <a:off x="807351" y="941737"/>
            <a:ext cx="10157791" cy="1168392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Port and Service Discovery Scanning Techniques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27C8A-00CF-A658-3879-59866C9707CD}"/>
              </a:ext>
            </a:extLst>
          </p:cNvPr>
          <p:cNvSpPr txBox="1"/>
          <p:nvPr/>
        </p:nvSpPr>
        <p:spPr>
          <a:xfrm>
            <a:off x="1283635" y="1902792"/>
            <a:ext cx="92052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TCP Connect Scan</a:t>
            </a:r>
            <a:br>
              <a:rPr lang="en-US" sz="2800" dirty="0"/>
            </a:br>
            <a:r>
              <a:rPr lang="en-US" sz="2800" dirty="0"/>
              <a:t>Establishes a full TCP connection to identify open ports and associated services.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SYN (Half‑Open) Scan</a:t>
            </a:r>
            <a:br>
              <a:rPr lang="en-US" sz="2800" dirty="0"/>
            </a:br>
            <a:r>
              <a:rPr lang="en-US" sz="2800" dirty="0"/>
              <a:t>Sends partial TCP handshake requests to detect open ports without completing the connection.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UDP Scan</a:t>
            </a:r>
            <a:br>
              <a:rPr lang="en-US" sz="2800" dirty="0"/>
            </a:br>
            <a:r>
              <a:rPr lang="en-US" sz="2800" dirty="0"/>
              <a:t>Sends UDP packets to discover open UDP ports and running services.</a:t>
            </a:r>
          </a:p>
        </p:txBody>
      </p:sp>
    </p:spTree>
    <p:extLst>
      <p:ext uri="{BB962C8B-B14F-4D97-AF65-F5344CB8AC3E}">
        <p14:creationId xmlns:p14="http://schemas.microsoft.com/office/powerpoint/2010/main" val="1847625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5AAC-84D0-5E58-1B5F-7EF7093C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38BAE991-BC06-C97D-1D82-625A849AFC1C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D3C33096-C0E6-1BA3-F32B-121C30A16DF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D86E5B99-12D0-034F-D0FB-8FC28A63E053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3BE0AF44-15ED-F4F7-FFBC-8DF0569E697A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20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1EC4031-A7B4-13E9-7359-DCB54C08C16A}"/>
              </a:ext>
            </a:extLst>
          </p:cNvPr>
          <p:cNvSpPr txBox="1">
            <a:spLocks/>
          </p:cNvSpPr>
          <p:nvPr/>
        </p:nvSpPr>
        <p:spPr>
          <a:xfrm>
            <a:off x="833291" y="479520"/>
            <a:ext cx="10525178" cy="942480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</a:rPr>
              <a:t>Port and Service Discovery Scanning Techniques(Cont..)</a:t>
            </a:r>
            <a:r>
              <a:rPr lang="en" sz="4000" b="1" dirty="0">
                <a:solidFill>
                  <a:schemeClr val="tx2"/>
                </a:solidFill>
              </a:rPr>
              <a:t> 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0CCDE2-2237-98F0-D795-0007F3B4C455}"/>
              </a:ext>
            </a:extLst>
          </p:cNvPr>
          <p:cNvSpPr txBox="1"/>
          <p:nvPr/>
        </p:nvSpPr>
        <p:spPr>
          <a:xfrm>
            <a:off x="1171248" y="1914402"/>
            <a:ext cx="92052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Service Version Detection</a:t>
            </a:r>
            <a:br>
              <a:rPr lang="en-US" sz="2800" dirty="0"/>
            </a:br>
            <a:r>
              <a:rPr lang="en-US" sz="2800" dirty="0"/>
              <a:t>Analyzes responses from open ports to determine the exact service and version running.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Banner Grabbing</a:t>
            </a:r>
            <a:br>
              <a:rPr lang="en-US" sz="2800" dirty="0"/>
            </a:br>
            <a:r>
              <a:rPr lang="en-US" sz="2800" dirty="0"/>
              <a:t>Collects service banners to identify software type and configuration details.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b="1" dirty="0"/>
              <a:t>Stealth Scanning</a:t>
            </a:r>
            <a:br>
              <a:rPr lang="en-US" sz="2800" dirty="0"/>
            </a:br>
            <a:r>
              <a:rPr lang="en-US" sz="2800" dirty="0"/>
              <a:t>Uses modified packet techniques to reduce detection by security systems.</a:t>
            </a:r>
          </a:p>
        </p:txBody>
      </p:sp>
    </p:spTree>
    <p:extLst>
      <p:ext uri="{BB962C8B-B14F-4D97-AF65-F5344CB8AC3E}">
        <p14:creationId xmlns:p14="http://schemas.microsoft.com/office/powerpoint/2010/main" val="3936115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43F08-99B0-D833-C41F-242467CD0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2845D2FB-AECD-1F7C-8877-AEBCDA2AFBFE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BB6C733C-A6A4-BE0F-DDE6-1DC6F8F8B36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8C58C1B2-88CC-36A7-CB91-2A57319BFCAF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B3B6A944-8892-8D62-D899-A6161D27C24F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21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75DAB107-F66F-1122-ACEE-9DF6C0AC54E5}"/>
              </a:ext>
            </a:extLst>
          </p:cNvPr>
          <p:cNvSpPr txBox="1">
            <a:spLocks/>
          </p:cNvSpPr>
          <p:nvPr/>
        </p:nvSpPr>
        <p:spPr>
          <a:xfrm>
            <a:off x="1145520" y="734400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  <a:latin typeface="Calibri Light"/>
              </a:rPr>
              <a:t>TCP Connect Scan </a:t>
            </a:r>
            <a:r>
              <a:rPr lang="en" sz="4000" b="1" dirty="0">
                <a:solidFill>
                  <a:schemeClr val="tx2"/>
                </a:solidFill>
                <a:latin typeface="Calibri Light"/>
              </a:rPr>
              <a:t> </a:t>
            </a:r>
            <a:endParaRPr lang="en-US" sz="4000" b="1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D73E9-BDF4-F3F2-656C-6E3A396B4A46}"/>
              </a:ext>
            </a:extLst>
          </p:cNvPr>
          <p:cNvSpPr txBox="1"/>
          <p:nvPr/>
        </p:nvSpPr>
        <p:spPr>
          <a:xfrm>
            <a:off x="6095880" y="5204628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 FIGURE 3: Scan result when a port is open 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5F8C42-1BB4-67F0-4F74-F6465946C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455" y="1514168"/>
            <a:ext cx="5180519" cy="33164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1A143C-9C7D-DFD5-74B2-0AB5A598B35A}"/>
              </a:ext>
            </a:extLst>
          </p:cNvPr>
          <p:cNvSpPr txBox="1"/>
          <p:nvPr/>
        </p:nvSpPr>
        <p:spPr>
          <a:xfrm>
            <a:off x="1028954" y="2012768"/>
            <a:ext cx="449641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scanner (attacker) sends a </a:t>
            </a:r>
            <a:r>
              <a:rPr lang="en-US" sz="2000" b="1" dirty="0"/>
              <a:t>SYN packet</a:t>
            </a:r>
            <a:r>
              <a:rPr lang="en-US" sz="2000" dirty="0"/>
              <a:t> to a specific </a:t>
            </a:r>
            <a:r>
              <a:rPr lang="en-US" sz="2000" b="1" dirty="0"/>
              <a:t>port (n)</a:t>
            </a:r>
            <a:r>
              <a:rPr lang="en-US" sz="2000" dirty="0"/>
              <a:t> on the target system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If the port is open: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target replies with </a:t>
            </a:r>
            <a:r>
              <a:rPr lang="en-US" sz="2000" b="1" dirty="0"/>
              <a:t>SYN + ACK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scanner immediately sends </a:t>
            </a:r>
            <a:r>
              <a:rPr lang="en-US" sz="2000" b="1" dirty="0"/>
              <a:t>RST</a:t>
            </a:r>
            <a:r>
              <a:rPr lang="en-US" sz="2000" dirty="0"/>
              <a:t> (resets the connection)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confirms the port is </a:t>
            </a:r>
            <a:r>
              <a:rPr lang="en-US" sz="2000" b="1" dirty="0"/>
              <a:t>open</a:t>
            </a:r>
            <a:r>
              <a:rPr lang="en-US" sz="2000" dirty="0"/>
              <a:t> without completing the full connection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32326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22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896615" y="710671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  <a:latin typeface="Calibri Light"/>
              </a:rPr>
              <a:t>TCP Connect Scan(Cont..</a:t>
            </a:r>
            <a:r>
              <a:rPr lang="en-US" sz="4000" b="1" dirty="0">
                <a:solidFill>
                  <a:schemeClr val="accent5"/>
                </a:solidFill>
                <a:latin typeface="Calibri Light"/>
              </a:rPr>
              <a:t>) </a:t>
            </a:r>
            <a:r>
              <a:rPr lang="en" sz="4000" b="1" dirty="0">
                <a:solidFill>
                  <a:schemeClr val="accent5"/>
                </a:solidFill>
                <a:latin typeface="Calibri Light"/>
              </a:rPr>
              <a:t> </a:t>
            </a:r>
            <a:endParaRPr lang="en-US" sz="4000" b="1" dirty="0">
              <a:solidFill>
                <a:schemeClr val="accent5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E34A3-4170-9C00-6169-BA44C4096806}"/>
              </a:ext>
            </a:extLst>
          </p:cNvPr>
          <p:cNvSpPr txBox="1"/>
          <p:nvPr/>
        </p:nvSpPr>
        <p:spPr>
          <a:xfrm>
            <a:off x="6095880" y="4822971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 FIGURE 3: Scan result when a port is closed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1034272" y="1687519"/>
            <a:ext cx="449641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If the port is closed: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/>
              <a:t> The target responds with an </a:t>
            </a:r>
            <a:r>
              <a:rPr lang="en-US" sz="2800" b="1" dirty="0"/>
              <a:t>RST packet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/>
              <a:t> This indicates the port is </a:t>
            </a:r>
            <a:r>
              <a:rPr lang="en-US" sz="2800" b="1" dirty="0"/>
              <a:t>closed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If there is no response: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/>
              <a:t> The port is considered </a:t>
            </a:r>
            <a:r>
              <a:rPr lang="en-US" sz="2800" b="1" dirty="0"/>
              <a:t>filtered or    blocked</a:t>
            </a:r>
            <a:r>
              <a:rPr lang="en-US" sz="2800" dirty="0"/>
              <a:t> by a firewall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8A334C-AE0D-B2FA-FED3-C4D681EB2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745" y="2012768"/>
            <a:ext cx="4732714" cy="280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669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23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1184849" y="702444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tx2"/>
                </a:solidFill>
                <a:latin typeface="Calibri Light"/>
              </a:rPr>
              <a:t>UDP(User datagram protocol) Scanning </a:t>
            </a:r>
            <a:r>
              <a:rPr lang="en" sz="4000" b="1" dirty="0">
                <a:solidFill>
                  <a:schemeClr val="tx2"/>
                </a:solidFill>
                <a:latin typeface="Calibri Light"/>
              </a:rPr>
              <a:t> </a:t>
            </a:r>
            <a:endParaRPr lang="en-US" sz="4000" b="1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E34A3-4170-9C00-6169-BA44C4096806}"/>
              </a:ext>
            </a:extLst>
          </p:cNvPr>
          <p:cNvSpPr txBox="1"/>
          <p:nvPr/>
        </p:nvSpPr>
        <p:spPr>
          <a:xfrm>
            <a:off x="6095880" y="4822971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 FIGURE 3: UDP </a:t>
            </a:r>
            <a:r>
              <a:rPr lang="en-US" dirty="0" err="1">
                <a:solidFill>
                  <a:schemeClr val="accent5"/>
                </a:solidFill>
              </a:rPr>
              <a:t>Scaning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781407" y="1482213"/>
            <a:ext cx="473271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UDP Raw ICMP Port Unreachable Scanning</a:t>
            </a:r>
            <a:r>
              <a:rPr lang="en-US" sz="2000" dirty="0"/>
              <a:t> is a method used to identify open or closed UDP ports.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UDP packet is sent to a target port without a three-way handshake.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If the port is </a:t>
            </a:r>
            <a:r>
              <a:rPr lang="en-US" sz="2000" b="1" dirty="0"/>
              <a:t>closed</a:t>
            </a:r>
            <a:r>
              <a:rPr lang="en-US" sz="2000" dirty="0"/>
              <a:t>, the host replies with an </a:t>
            </a:r>
            <a:r>
              <a:rPr lang="en-US" sz="2000" b="1" dirty="0"/>
              <a:t>ICMP Port Unreachable</a:t>
            </a:r>
            <a:r>
              <a:rPr lang="en-US" sz="2000" dirty="0"/>
              <a:t> message.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If there is </a:t>
            </a:r>
            <a:r>
              <a:rPr lang="en-US" sz="2000" b="1" dirty="0"/>
              <a:t>no response</a:t>
            </a:r>
            <a:r>
              <a:rPr lang="en-US" sz="2000" dirty="0"/>
              <a:t>, the port is considered </a:t>
            </a:r>
            <a:r>
              <a:rPr lang="en-US" sz="2000" b="1" dirty="0"/>
              <a:t>open or filtered</a:t>
            </a:r>
            <a:r>
              <a:rPr lang="en-US" sz="2000" dirty="0"/>
              <a:t> by a firewall.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makes UDP scanning slower and less certain compared to TCP scanning.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4E9F73-D2EA-4DC7-BE4B-A1F89969B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923" y="1688085"/>
            <a:ext cx="5269583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837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24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968555" y="702445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tx2"/>
                </a:solidFill>
              </a:rPr>
              <a:t>AI-Based Port Scanning </a:t>
            </a:r>
            <a:r>
              <a:rPr lang="en" sz="3600" b="1" dirty="0">
                <a:solidFill>
                  <a:schemeClr val="tx2"/>
                </a:solidFill>
              </a:rPr>
              <a:t> </a:t>
            </a:r>
            <a:endParaRPr lang="en-US" sz="3600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E34A3-4170-9C00-6169-BA44C4096806}"/>
              </a:ext>
            </a:extLst>
          </p:cNvPr>
          <p:cNvSpPr txBox="1"/>
          <p:nvPr/>
        </p:nvSpPr>
        <p:spPr>
          <a:xfrm>
            <a:off x="6095880" y="4822971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 FIGURE 3: UDP </a:t>
            </a:r>
            <a:r>
              <a:rPr lang="en-US" dirty="0" err="1">
                <a:solidFill>
                  <a:schemeClr val="accent5"/>
                </a:solidFill>
              </a:rPr>
              <a:t>Scaning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985583" y="3075057"/>
            <a:ext cx="47327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Use </a:t>
            </a:r>
            <a:r>
              <a:rPr lang="en-US" sz="2000" b="1" dirty="0" err="1"/>
              <a:t>nmap</a:t>
            </a:r>
            <a:r>
              <a:rPr lang="en-US" sz="2000" b="1" dirty="0"/>
              <a:t> to find the open port on the target IP 10.10.1.11.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C8254F-A39F-4737-97DC-939A7ECB7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032" y="1590675"/>
            <a:ext cx="5158607" cy="3676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EBC4D5-705E-4892-A95C-7EE157FF1627}"/>
              </a:ext>
            </a:extLst>
          </p:cNvPr>
          <p:cNvSpPr txBox="1"/>
          <p:nvPr/>
        </p:nvSpPr>
        <p:spPr>
          <a:xfrm>
            <a:off x="895906" y="1715678"/>
            <a:ext cx="48174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Using some ai command we can perform the port scanning operations. Some of them</a:t>
            </a:r>
          </a:p>
        </p:txBody>
      </p:sp>
    </p:spTree>
    <p:extLst>
      <p:ext uri="{BB962C8B-B14F-4D97-AF65-F5344CB8AC3E}">
        <p14:creationId xmlns:p14="http://schemas.microsoft.com/office/powerpoint/2010/main" val="1718853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25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968555" y="702445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1"/>
                </a:solidFill>
              </a:rPr>
              <a:t>AI-Based Port Scanning </a:t>
            </a:r>
            <a:r>
              <a:rPr lang="en" sz="3600" dirty="0">
                <a:solidFill>
                  <a:schemeClr val="accent1"/>
                </a:solidFill>
              </a:rPr>
              <a:t> 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E34A3-4170-9C00-6169-BA44C4096806}"/>
              </a:ext>
            </a:extLst>
          </p:cNvPr>
          <p:cNvSpPr txBox="1"/>
          <p:nvPr/>
        </p:nvSpPr>
        <p:spPr>
          <a:xfrm>
            <a:off x="6095880" y="4822971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 FIGURE 3: perform XMAS scan on the target Ip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828199" y="2983205"/>
            <a:ext cx="47327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Perform an XMAS scan on the target IP 10.10.1.11.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6B1A9D-840F-4368-99DB-74829A88A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474" y="1840780"/>
            <a:ext cx="5786978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51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26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968555" y="702445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1"/>
                </a:solidFill>
              </a:rPr>
              <a:t>Nmap Scan Time Reduction Techniques </a:t>
            </a:r>
            <a:r>
              <a:rPr lang="en" sz="3600" dirty="0">
                <a:solidFill>
                  <a:schemeClr val="accent1"/>
                </a:solidFill>
              </a:rPr>
              <a:t> 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828199" y="1482213"/>
            <a:ext cx="449506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Omit Non-Critical Tests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Skip unnecessary scans like version detection or OS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Focus only on required ports and services</a:t>
            </a:r>
            <a:br>
              <a:rPr lang="en-US" sz="2000" dirty="0"/>
            </a:br>
            <a:r>
              <a:rPr lang="en-US" sz="2000" dirty="0"/>
              <a:t>✔ Reduces scan overhead</a:t>
            </a:r>
          </a:p>
          <a:p>
            <a:endParaRPr 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5E64CF-4659-427F-BBC4-EE0FA1E766DF}"/>
              </a:ext>
            </a:extLst>
          </p:cNvPr>
          <p:cNvSpPr txBox="1"/>
          <p:nvPr/>
        </p:nvSpPr>
        <p:spPr>
          <a:xfrm>
            <a:off x="5599734" y="1475811"/>
            <a:ext cx="449506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Upgrade Nmap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 the latest Nmap version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Improved performance and bug fixes</a:t>
            </a:r>
            <a:br>
              <a:rPr lang="en-US" sz="2000" dirty="0"/>
            </a:br>
            <a:r>
              <a:rPr lang="en-US" sz="2000" dirty="0"/>
              <a:t>✔ Faster and more accurate scans</a:t>
            </a:r>
          </a:p>
          <a:p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C20468-C6ED-4B34-B78D-516E8456AF20}"/>
              </a:ext>
            </a:extLst>
          </p:cNvPr>
          <p:cNvSpPr txBox="1"/>
          <p:nvPr/>
        </p:nvSpPr>
        <p:spPr>
          <a:xfrm>
            <a:off x="866264" y="3908786"/>
            <a:ext cx="449506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Optimize Timing 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 faster timing templates (T3–T5)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Adjust retries and delays</a:t>
            </a:r>
            <a:br>
              <a:rPr lang="en-US" sz="2000" dirty="0"/>
            </a:br>
            <a:r>
              <a:rPr lang="en-US" sz="2000" dirty="0"/>
              <a:t>✔ Speeds up packet transmission</a:t>
            </a:r>
          </a:p>
          <a:p>
            <a:endParaRPr 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CAFDC3-8FC7-4330-A6BA-B8B29B7668E5}"/>
              </a:ext>
            </a:extLst>
          </p:cNvPr>
          <p:cNvSpPr txBox="1"/>
          <p:nvPr/>
        </p:nvSpPr>
        <p:spPr>
          <a:xfrm>
            <a:off x="5515250" y="3825516"/>
            <a:ext cx="449506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Omit Non-Critical Tests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Skip unnecessary scans like version detection or OS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Focus only on required ports and services</a:t>
            </a:r>
            <a:br>
              <a:rPr lang="en-US" sz="2000" dirty="0"/>
            </a:br>
            <a:r>
              <a:rPr lang="en-US" sz="2000" dirty="0"/>
              <a:t>✔ Reduces scan overhead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07227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/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/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/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27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517328-99A1-45D2-AB3F-09B38E8CA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22" y="811869"/>
            <a:ext cx="10345115" cy="491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7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28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968555" y="702445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1"/>
                </a:solidFill>
              </a:rPr>
              <a:t>Banner Grabbing </a:t>
            </a:r>
            <a:r>
              <a:rPr lang="en" sz="3600" dirty="0">
                <a:solidFill>
                  <a:schemeClr val="accent1"/>
                </a:solidFill>
              </a:rPr>
              <a:t> 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834077" y="1482213"/>
            <a:ext cx="974508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Banner grabbing is the method used to determine the operating system running on a remote target system . There are two types of banner grabbing </a:t>
            </a:r>
          </a:p>
          <a:p>
            <a:endParaRPr lang="en-US" sz="2000" dirty="0"/>
          </a:p>
          <a:p>
            <a:r>
              <a:rPr lang="en-US" sz="2000" b="1" dirty="0"/>
              <a:t>Active Banner Grabbing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Attacker or tester </a:t>
            </a:r>
            <a:r>
              <a:rPr lang="en-US" sz="2000" b="1" dirty="0"/>
              <a:t>directly connects to the target service</a:t>
            </a:r>
            <a:r>
              <a:rPr lang="en-US" sz="2000" dirty="0"/>
              <a:t> (like HTTP, FTP, SSH) to request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Involves </a:t>
            </a:r>
            <a:r>
              <a:rPr lang="en-US" sz="2000" b="1" dirty="0"/>
              <a:t>sending packets or commands</a:t>
            </a:r>
            <a:r>
              <a:rPr lang="en-US" sz="2000" dirty="0"/>
              <a:t> and reading the response.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Example tools: </a:t>
            </a:r>
            <a:r>
              <a:rPr lang="en-US" sz="2000" b="1" dirty="0"/>
              <a:t>Nmap, </a:t>
            </a:r>
            <a:r>
              <a:rPr lang="en-US" sz="2000" b="1" dirty="0" err="1"/>
              <a:t>Netcat</a:t>
            </a:r>
            <a:r>
              <a:rPr lang="en-US" sz="2000" b="1" dirty="0"/>
              <a:t>, Telnet</a:t>
            </a:r>
          </a:p>
          <a:p>
            <a:endParaRPr lang="en-US" sz="2000" dirty="0"/>
          </a:p>
          <a:p>
            <a:r>
              <a:rPr lang="en-US" sz="2000" b="1" dirty="0"/>
              <a:t>Passive Banner Grabbing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No direct interaction with the target occurs.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Information is gathered </a:t>
            </a:r>
            <a:r>
              <a:rPr lang="en-US" sz="2000" b="1" dirty="0"/>
              <a:t>from network traffic</a:t>
            </a:r>
            <a:r>
              <a:rPr lang="en-US" sz="2000" dirty="0"/>
              <a:t>, logs, or publicly available 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Example: Sniffing packets with </a:t>
            </a:r>
            <a:r>
              <a:rPr lang="en-US" sz="2000" b="1" dirty="0"/>
              <a:t>Wireshark</a:t>
            </a:r>
            <a:r>
              <a:rPr lang="en-US" sz="2000" dirty="0"/>
              <a:t> or analyzing </a:t>
            </a:r>
            <a:r>
              <a:rPr lang="en-US" sz="2000" b="1" dirty="0"/>
              <a:t>search engines, Shodan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60677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29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968555" y="702445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1"/>
                </a:solidFill>
              </a:rPr>
              <a:t>OS discovery Nmap Script Engine </a:t>
            </a:r>
            <a:r>
              <a:rPr lang="en" sz="3600" dirty="0">
                <a:solidFill>
                  <a:schemeClr val="accent1"/>
                </a:solidFill>
              </a:rPr>
              <a:t> 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895545" y="1482213"/>
            <a:ext cx="987857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Nmap Script Engine (NSE)</a:t>
            </a:r>
            <a:r>
              <a:rPr lang="en-US" sz="2000" dirty="0"/>
              <a:t>are used to gather </a:t>
            </a:r>
            <a:r>
              <a:rPr lang="en-US" sz="2000" b="1" dirty="0"/>
              <a:t>additional information from services and network responses</a:t>
            </a:r>
            <a:r>
              <a:rPr lang="en-US" sz="2000" dirty="0"/>
              <a:t> to improve OS detection accuracy.</a:t>
            </a:r>
          </a:p>
          <a:p>
            <a:endParaRPr lang="en-US" sz="2000" dirty="0"/>
          </a:p>
          <a:p>
            <a:r>
              <a:rPr lang="en-US" sz="2000" b="1" dirty="0"/>
              <a:t>Why is it Important?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Security Assessment:</a:t>
            </a:r>
            <a:r>
              <a:rPr lang="en-US" sz="2000" dirty="0"/>
              <a:t> OS helps security testers identify vulnerabilities specific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Target Profiling:</a:t>
            </a:r>
            <a:r>
              <a:rPr lang="en-US" sz="2000" dirty="0"/>
              <a:t> Helps attackers or defenders choose the right tools or exploits.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Network Management:</a:t>
            </a:r>
            <a:r>
              <a:rPr lang="en-US" sz="2000" dirty="0"/>
              <a:t> Helps administrators know which devices are running which 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Accuracy:</a:t>
            </a:r>
            <a:r>
              <a:rPr lang="en-US" sz="2000" dirty="0"/>
              <a:t> Using NSE scripts increases detection success when traditional OS detection is blocked or filtered.</a:t>
            </a:r>
          </a:p>
          <a:p>
            <a:r>
              <a:rPr lang="en-US" sz="2000" dirty="0"/>
              <a:t>Common NSE Scripts for OS Discovery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smb</a:t>
            </a:r>
            <a:r>
              <a:rPr lang="en-US" sz="2000" b="1" dirty="0"/>
              <a:t>-</a:t>
            </a:r>
            <a:r>
              <a:rPr lang="en-US" sz="2000" b="1" dirty="0" err="1"/>
              <a:t>os</a:t>
            </a:r>
            <a:r>
              <a:rPr lang="en-US" sz="2000" b="1" dirty="0"/>
              <a:t>-discovery : </a:t>
            </a:r>
            <a:r>
              <a:rPr lang="en-US" sz="2000" dirty="0"/>
              <a:t>Detects Windows OS via SMB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http-headers : </a:t>
            </a:r>
            <a:r>
              <a:rPr lang="en-US" sz="2000" dirty="0"/>
              <a:t>Reveals OS info from web server HTTP headers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61785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30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691398" y="702445"/>
            <a:ext cx="9887767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1"/>
                </a:solidFill>
              </a:rPr>
              <a:t>OS Discovery Using IPv6 Fingerprinting </a:t>
            </a:r>
            <a:r>
              <a:rPr lang="en" sz="3600" dirty="0">
                <a:solidFill>
                  <a:schemeClr val="accent1"/>
                </a:solidFill>
              </a:rPr>
              <a:t> 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771637" y="1433520"/>
            <a:ext cx="1017288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OS discovery </a:t>
            </a:r>
            <a:r>
              <a:rPr lang="en-US" sz="2000" dirty="0"/>
              <a:t>using IPv6 fingerprinting is the process of identifying a target system’s operating system by analyzing how it implements and responds to IPv6 network protocols.</a:t>
            </a:r>
          </a:p>
          <a:p>
            <a:r>
              <a:rPr lang="en-US" sz="2000" dirty="0"/>
              <a:t>Nmap uses a separate IPv6-specific OS detection engine and sends nearly 18 probes to identify the target OS.</a:t>
            </a:r>
          </a:p>
          <a:p>
            <a:r>
              <a:rPr lang="en-US" sz="2000" dirty="0"/>
              <a:t>Probes sent in the following order: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Sequence Generation (S1–S6)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ICMPv6 Echo (IE1)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ICMPv6 Echo (IE2)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Node Information Query (NI)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Neighbor Solicitation (NS)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UDP Probe (U1)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TCP Explicit Congestion Notification (TECN)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TCP Probes (T2–T7)</a:t>
            </a:r>
          </a:p>
          <a:p>
            <a:r>
              <a:rPr lang="en-US" sz="2000" b="1" dirty="0"/>
              <a:t>Syntax:</a:t>
            </a:r>
            <a:r>
              <a:rPr lang="pt-BR" sz="2000" b="1" dirty="0"/>
              <a:t>nmap -6 -O target_ipv6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90685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/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/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/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31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C6EC48-5137-465E-ABB9-E336EE0C7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54" y="950759"/>
            <a:ext cx="10328286" cy="467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156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32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968555" y="702445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1"/>
                </a:solidFill>
              </a:rPr>
              <a:t>Scanning </a:t>
            </a:r>
            <a:r>
              <a:rPr lang="en" sz="3600" dirty="0">
                <a:solidFill>
                  <a:schemeClr val="accent1"/>
                </a:solidFill>
              </a:rPr>
              <a:t>Beyond IDS and firewall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E34A3-4170-9C00-6169-BA44C4096806}"/>
              </a:ext>
            </a:extLst>
          </p:cNvPr>
          <p:cNvSpPr txBox="1"/>
          <p:nvPr/>
        </p:nvSpPr>
        <p:spPr>
          <a:xfrm>
            <a:off x="6095880" y="4822971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 FIGURE 3: perform XMAS scan on the target Ip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968555" y="1402925"/>
            <a:ext cx="905213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Attackers and security testers use the following techniques to </a:t>
            </a:r>
            <a:r>
              <a:rPr lang="en-US" sz="2000" b="1" dirty="0"/>
              <a:t>evade IDS/IPS and firewalls</a:t>
            </a:r>
            <a:r>
              <a:rPr lang="en-US" sz="2000" dirty="0"/>
              <a:t> during scanning: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Packet Fragmentation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Source Port Manipulation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Source routing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IP address spoofing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IP address decoy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Mac address spoofing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Proxy servers</a:t>
            </a:r>
          </a:p>
          <a:p>
            <a:endParaRPr lang="en-US" sz="2000" b="1" dirty="0"/>
          </a:p>
          <a:p>
            <a:endParaRPr lang="en-US" sz="2000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7907418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33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968555" y="702445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1"/>
                </a:solidFill>
              </a:rPr>
              <a:t>IP Address </a:t>
            </a:r>
            <a:r>
              <a:rPr lang="en" sz="3600" dirty="0">
                <a:solidFill>
                  <a:schemeClr val="accent1"/>
                </a:solidFill>
              </a:rPr>
              <a:t>Spoofing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968555" y="1665697"/>
            <a:ext cx="974319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effectLst/>
                <a:latin typeface="Google Sans"/>
              </a:rPr>
              <a:t>IP address spoofing</a:t>
            </a:r>
            <a:r>
              <a:rPr lang="en-US" sz="2000" b="0" i="0" dirty="0">
                <a:effectLst/>
                <a:latin typeface="Google Sans"/>
              </a:rPr>
              <a:t> is the process of creating Internet Protocol (IP) packets with a false or forged source IP address to disguise the sender's identity or impersonate a legitimate computer system.</a:t>
            </a:r>
          </a:p>
          <a:p>
            <a:endParaRPr lang="en-US" sz="2000" b="0" i="0" dirty="0">
              <a:effectLst/>
              <a:latin typeface="Google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operates at the </a:t>
            </a:r>
            <a:r>
              <a:rPr lang="en-US" sz="2000" b="1" dirty="0"/>
              <a:t>Network Layer (Layer 3)</a:t>
            </a:r>
            <a:r>
              <a:rPr lang="en-US" sz="2000" dirty="0"/>
              <a:t> of the OSI model and is commonly used to hide the attacker’s identity or impersonate another device.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Google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normal communication, each IP packet contains a </a:t>
            </a:r>
            <a:r>
              <a:rPr lang="en-US" sz="2000" b="1" dirty="0"/>
              <a:t>source IP</a:t>
            </a:r>
            <a:r>
              <a:rPr lang="en-US" sz="2000" dirty="0"/>
              <a:t> and a </a:t>
            </a:r>
            <a:r>
              <a:rPr lang="en-US" sz="2000" b="1" dirty="0"/>
              <a:t>destination IP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Attacker modifies the </a:t>
            </a:r>
            <a:r>
              <a:rPr lang="en-US" sz="2000" b="1" dirty="0"/>
              <a:t>source IP address</a:t>
            </a:r>
            <a:r>
              <a:rPr lang="en-US" sz="2000" dirty="0"/>
              <a:t> before sending the packet, so the receiver believes the packet came from a different system.</a:t>
            </a:r>
            <a:endParaRPr lang="en-US" sz="2000" dirty="0">
              <a:latin typeface="Google Sans"/>
            </a:endParaRP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77453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34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968555" y="702445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1"/>
                </a:solidFill>
              </a:rPr>
              <a:t>Mac Address Spoofing </a:t>
            </a:r>
            <a:r>
              <a:rPr lang="en" sz="3600" dirty="0">
                <a:solidFill>
                  <a:schemeClr val="accent1"/>
                </a:solidFill>
              </a:rPr>
              <a:t> 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905020" y="1964347"/>
            <a:ext cx="984117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MAC address spoofing</a:t>
            </a:r>
            <a:r>
              <a:rPr lang="en-US" sz="2000" dirty="0"/>
              <a:t> is a technique in which an attacker </a:t>
            </a:r>
            <a:r>
              <a:rPr lang="en-US" sz="2000" b="1" dirty="0"/>
              <a:t>changes or forges the Media Access Control (MAC) address</a:t>
            </a:r>
            <a:r>
              <a:rPr lang="en-US" sz="2000" dirty="0"/>
              <a:t> of a network interface to </a:t>
            </a:r>
            <a:r>
              <a:rPr lang="en-US" sz="2000" b="1" dirty="0"/>
              <a:t>impersonate another device</a:t>
            </a:r>
            <a:r>
              <a:rPr lang="en-US" sz="2000" dirty="0"/>
              <a:t> on the same local network.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works at the </a:t>
            </a:r>
            <a:r>
              <a:rPr lang="en-US" sz="2000" b="1" dirty="0"/>
              <a:t>Data Link Layer (Layer 2)</a:t>
            </a:r>
            <a:r>
              <a:rPr lang="en-US" sz="2000" dirty="0"/>
              <a:t> of the OSI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Every network device has a unique MAC address assigned by the manufacturer.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Attacker manually alters this address using software tools, making the device appear as a trusted system on the network.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615447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0" y="6494400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alibri"/>
              </a:rPr>
              <a:t>35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968555" y="702445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1"/>
                </a:solidFill>
              </a:rPr>
              <a:t>Proxy server </a:t>
            </a:r>
            <a:r>
              <a:rPr lang="en" sz="3600" dirty="0">
                <a:solidFill>
                  <a:schemeClr val="accent1"/>
                </a:solidFill>
              </a:rPr>
              <a:t> 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E34A3-4170-9C00-6169-BA44C4096806}"/>
              </a:ext>
            </a:extLst>
          </p:cNvPr>
          <p:cNvSpPr txBox="1"/>
          <p:nvPr/>
        </p:nvSpPr>
        <p:spPr>
          <a:xfrm>
            <a:off x="6095880" y="4822971"/>
            <a:ext cx="4405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 FIGURE 3:attacker use proxy sever to connecting the target server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897345" y="1385740"/>
            <a:ext cx="100555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proxy server</a:t>
            </a:r>
            <a:r>
              <a:rPr lang="en-US" sz="2000" dirty="0"/>
              <a:t> is an intermediary server that </a:t>
            </a:r>
            <a:r>
              <a:rPr lang="en-US" sz="2000" b="1" dirty="0"/>
              <a:t>sits between a client (user) and the internet (or another server)</a:t>
            </a:r>
            <a:r>
              <a:rPr lang="en-US" sz="2000" dirty="0"/>
              <a:t>. It </a:t>
            </a:r>
            <a:r>
              <a:rPr lang="en-US" sz="2000" b="1" dirty="0"/>
              <a:t>forwards client requests</a:t>
            </a:r>
            <a:r>
              <a:rPr lang="en-US" sz="2000" dirty="0"/>
              <a:t> to the destination server and then sends the response back to the client.</a:t>
            </a:r>
          </a:p>
          <a:p>
            <a:r>
              <a:rPr lang="en-US" sz="2000" dirty="0"/>
              <a:t>It acts as a </a:t>
            </a:r>
            <a:r>
              <a:rPr lang="en-US" sz="2000" b="1" dirty="0"/>
              <a:t>gateway</a:t>
            </a:r>
            <a:r>
              <a:rPr lang="en-US" sz="2000" dirty="0"/>
              <a:t> or </a:t>
            </a:r>
            <a:r>
              <a:rPr lang="en-US" sz="2000" b="1" dirty="0"/>
              <a:t>middleman</a:t>
            </a:r>
            <a:r>
              <a:rPr lang="en-US" sz="2000" dirty="0"/>
              <a:t> between a user and the web.</a:t>
            </a:r>
          </a:p>
          <a:p>
            <a:endParaRPr lang="en-US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E5015-86EC-47F7-9BE3-F2C0412C3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79" y="2128837"/>
            <a:ext cx="4574543" cy="26003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31A0997-FEF6-44FC-A60E-39B7C320B5EB}"/>
              </a:ext>
            </a:extLst>
          </p:cNvPr>
          <p:cNvSpPr txBox="1"/>
          <p:nvPr/>
        </p:nvSpPr>
        <p:spPr>
          <a:xfrm>
            <a:off x="968555" y="2767225"/>
            <a:ext cx="525313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How a Proxy Server Works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 client (like your browser) sends a request for a website or resource.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The request goes to the </a:t>
            </a:r>
            <a:r>
              <a:rPr lang="en-US" sz="2000" b="1" dirty="0"/>
              <a:t>proxy server</a:t>
            </a:r>
            <a:r>
              <a:rPr lang="en-US" sz="2000" dirty="0"/>
              <a:t> first.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The proxy server forwards the request to the destination server.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The destination server responds to the proxy server.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The proxy server sends the response back to the client.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367243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44DE-A208-71F0-6F02-9F3E1561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334;p45">
            <a:extLst>
              <a:ext uri="{FF2B5EF4-FFF2-40B4-BE49-F238E27FC236}">
                <a16:creationId xmlns:a16="http://schemas.microsoft.com/office/drawing/2014/main" id="{0FAE4FC9-41FF-804D-8845-CE3E1E10C0C8}"/>
              </a:ext>
            </a:extLst>
          </p:cNvPr>
          <p:cNvCxnSpPr/>
          <p:nvPr/>
        </p:nvCxnSpPr>
        <p:spPr>
          <a:xfrm flipV="1">
            <a:off x="468720" y="487440"/>
            <a:ext cx="360" cy="5508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37" name="Content Placeholder 7">
            <a:extLst>
              <a:ext uri="{FF2B5EF4-FFF2-40B4-BE49-F238E27FC236}">
                <a16:creationId xmlns:a16="http://schemas.microsoft.com/office/drawing/2014/main" id="{AB7C5A29-680C-8BE2-2779-F10CBAEACB4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78640" y="8280"/>
            <a:ext cx="110520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2">
            <a:extLst>
              <a:ext uri="{FF2B5EF4-FFF2-40B4-BE49-F238E27FC236}">
                <a16:creationId xmlns:a16="http://schemas.microsoft.com/office/drawing/2014/main" id="{171E3C95-8CB4-49FE-60E2-63E48E90FC2C}"/>
              </a:ext>
            </a:extLst>
          </p:cNvPr>
          <p:cNvSpPr/>
          <p:nvPr/>
        </p:nvSpPr>
        <p:spPr>
          <a:xfrm>
            <a:off x="-7920" y="6423115"/>
            <a:ext cx="12191760" cy="455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Commissioner"/>
              </a:rPr>
              <a:t>Jagannath University</a:t>
            </a:r>
            <a:endParaRPr lang="en-US" sz="24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4C6684AE-C2BC-DD5A-01C9-F8747BE2F433}"/>
              </a:ext>
            </a:extLst>
          </p:cNvPr>
          <p:cNvSpPr/>
          <p:nvPr/>
        </p:nvSpPr>
        <p:spPr>
          <a:xfrm>
            <a:off x="11436120" y="6494400"/>
            <a:ext cx="64188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36</a:t>
            </a:r>
            <a:endParaRPr lang="en-US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B35B1D78-07AC-8704-F635-3A1C51010F39}"/>
              </a:ext>
            </a:extLst>
          </p:cNvPr>
          <p:cNvSpPr txBox="1">
            <a:spLocks/>
          </p:cNvSpPr>
          <p:nvPr/>
        </p:nvSpPr>
        <p:spPr>
          <a:xfrm>
            <a:off x="968555" y="702445"/>
            <a:ext cx="9610610" cy="779768"/>
          </a:xfrm>
          <a:prstGeom prst="rect">
            <a:avLst/>
          </a:prstGeom>
          <a:noFill/>
          <a:ln w="0">
            <a:noFill/>
          </a:ln>
        </p:spPr>
        <p:txBody>
          <a:bodyPr lIns="122040" tIns="122040" rIns="122040" bIns="1220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1"/>
                </a:solidFill>
              </a:rPr>
              <a:t>Proxy server(cont..) </a:t>
            </a:r>
            <a:r>
              <a:rPr lang="en" sz="3600" dirty="0">
                <a:solidFill>
                  <a:schemeClr val="accent1"/>
                </a:solidFill>
              </a:rPr>
              <a:t> 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7B818-D5EE-24CC-EA7D-4C84CEEA2F9F}"/>
              </a:ext>
            </a:extLst>
          </p:cNvPr>
          <p:cNvSpPr txBox="1"/>
          <p:nvPr/>
        </p:nvSpPr>
        <p:spPr>
          <a:xfrm>
            <a:off x="968555" y="1357460"/>
            <a:ext cx="785493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proxy server</a:t>
            </a:r>
            <a:r>
              <a:rPr lang="en-US" dirty="0"/>
              <a:t> is used to perform several important functions in networking: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Hiding IP Address / Anonymity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proxy hides your real IP address from the websites you visit.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Helps protect your privacy online.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Bypassing Restrictions / Firewalls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Access blocked websites or content restricted by region.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Useful for bypassing company or school network restrictions.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Improving Security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Can filter out malicious websites or dangerous content.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Prevents direct access between clients and the internet.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Caching / Speed Improvement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Stores frequently accessed web pages or resources.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Reduces load time and saves bandwidth.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Monitoring / Access Control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Organizations can monitor employee internet usage.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Blocks access to unwanted or harmful websites.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861826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7A839-AE9B-C595-FF69-11769AC8A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2E41FB-1C47-9E40-34C5-E28C868B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E38A7-E291-4846-8EE6-75046924B9CE}" type="slidenum">
              <a:rPr lang="en-US" smtClean="0"/>
              <a:t>36</a:t>
            </a:fld>
            <a:endParaRPr lang="en-US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6E5F16F6-6728-86A6-0018-9048636BDC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273" y="107033"/>
            <a:ext cx="1105408" cy="94284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B981A55-E917-E88B-B4B7-3C497CDE3B11}"/>
              </a:ext>
            </a:extLst>
          </p:cNvPr>
          <p:cNvSpPr txBox="1">
            <a:spLocks/>
          </p:cNvSpPr>
          <p:nvPr/>
        </p:nvSpPr>
        <p:spPr>
          <a:xfrm>
            <a:off x="869730" y="2484781"/>
            <a:ext cx="10059543" cy="224624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 b="1" dirty="0">
                <a:solidFill>
                  <a:schemeClr val="tx2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1D54-4F6E-660D-AB2F-E5696DD6A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CSE, JnU</a:t>
            </a:r>
          </a:p>
        </p:txBody>
      </p:sp>
    </p:spTree>
    <p:extLst>
      <p:ext uri="{BB962C8B-B14F-4D97-AF65-F5344CB8AC3E}">
        <p14:creationId xmlns:p14="http://schemas.microsoft.com/office/powerpoint/2010/main" val="2916327682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t">
  <a:themeElements>
    <a:clrScheme name="Custom 3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27304E"/>
      </a:accent1>
      <a:accent2>
        <a:srgbClr val="344068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1326</TotalTime>
  <Words>2124</Words>
  <Application>Microsoft Office PowerPoint</Application>
  <PresentationFormat>Widescreen</PresentationFormat>
  <Paragraphs>320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Algerian</vt:lpstr>
      <vt:lpstr>Aptos</vt:lpstr>
      <vt:lpstr>Arial</vt:lpstr>
      <vt:lpstr>Calibri</vt:lpstr>
      <vt:lpstr>Calibri Light</vt:lpstr>
      <vt:lpstr>Commissioner</vt:lpstr>
      <vt:lpstr>Golos Text</vt:lpstr>
      <vt:lpstr>Google Sans</vt:lpstr>
      <vt:lpstr>Symbol</vt:lpstr>
      <vt:lpstr>Times New Roman</vt:lpstr>
      <vt:lpstr>Wingdings</vt:lpstr>
      <vt:lpstr>2_Office Theme</vt:lpstr>
      <vt:lpstr>Retrospect</vt:lpstr>
      <vt:lpstr>PowerPoint Presentation</vt:lpstr>
      <vt:lpstr>1</vt:lpstr>
      <vt:lpstr>PowerPoint Presentation</vt:lpstr>
      <vt:lpstr>Network Scanning is </vt:lpstr>
      <vt:lpstr>Objectives Of Network Scanning  </vt:lpstr>
      <vt:lpstr>Types of Network  Scanning </vt:lpstr>
      <vt:lpstr>Nmap (Network Mapper):Used for network discovery, port scanning, and service identification. </vt:lpstr>
      <vt:lpstr>PowerPoint Presentation</vt:lpstr>
      <vt:lpstr>PowerPoint Presentation</vt:lpstr>
      <vt:lpstr>Host discovery is  </vt:lpstr>
      <vt:lpstr>Types Of Host Discovery </vt:lpstr>
      <vt:lpstr>Comparative Analysis of  Host Discovery Techniques </vt:lpstr>
      <vt:lpstr>How ARP Ping Scan Works ? </vt:lpstr>
      <vt:lpstr>How UDP Ping Scan  Works ?</vt:lpstr>
      <vt:lpstr>Host Discovery Traditional Scanning VS  With AI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Rifah Sajida</dc:creator>
  <cp:lastModifiedBy>Farhana Akter Suci</cp:lastModifiedBy>
  <cp:revision>107</cp:revision>
  <dcterms:created xsi:type="dcterms:W3CDTF">2025-01-01T18:43:23Z</dcterms:created>
  <dcterms:modified xsi:type="dcterms:W3CDTF">2026-02-07T19:57:35Z</dcterms:modified>
</cp:coreProperties>
</file>